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18513" r:id="rId3"/>
    <p:sldId id="18509" r:id="rId4"/>
    <p:sldId id="18508" r:id="rId5"/>
    <p:sldId id="18227" r:id="rId6"/>
    <p:sldId id="18511" r:id="rId7"/>
    <p:sldId id="18515" r:id="rId8"/>
    <p:sldId id="18512" r:id="rId9"/>
    <p:sldId id="18514" r:id="rId10"/>
    <p:sldId id="18516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>
        <p:scale>
          <a:sx n="66" d="100"/>
          <a:sy n="66" d="100"/>
        </p:scale>
        <p:origin x="1068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864013287401576"/>
          <c:y val="0.145687491037925"/>
          <c:w val="0.56954170767716539"/>
          <c:h val="0.85431250896207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explosion val="20"/>
          <c:dPt>
            <c:idx val="0"/>
            <c:bubble3D val="0"/>
            <c:spPr>
              <a:solidFill>
                <a:schemeClr val="bg2"/>
              </a:solidFill>
              <a:ln w="19050">
                <a:solidFill>
                  <a:schemeClr val="bg2">
                    <a:lumMod val="9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2C1-4B54-85A9-BEF7F8557B1D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2C1-4B54-85A9-BEF7F8557B1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90D-40FB-BE73-018DE084592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90D-40FB-BE73-018DE084592E}"/>
              </c:ext>
            </c:extLst>
          </c:dPt>
          <c:cat>
            <c:strRef>
              <c:f>Sheet1!$A$2:$A$5</c:f>
              <c:strCache>
                <c:ptCount val="2"/>
                <c:pt idx="0">
                  <c:v>第 1 四半期</c:v>
                </c:pt>
                <c:pt idx="1">
                  <c:v>第 2 四半期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0.28999999999999998</c:v>
                </c:pt>
                <c:pt idx="1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C1-4B54-85A9-BEF7F8557B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864013287401576"/>
          <c:y val="0.145687491037925"/>
          <c:w val="0.56954170767716539"/>
          <c:h val="0.85431250896207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explosion val="17"/>
          <c:dPt>
            <c:idx val="0"/>
            <c:bubble3D val="0"/>
            <c:spPr>
              <a:solidFill>
                <a:schemeClr val="bg2"/>
              </a:solidFill>
              <a:ln w="19050">
                <a:solidFill>
                  <a:schemeClr val="bg2">
                    <a:lumMod val="9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E5-4790-91E8-642A99622A5F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4E5-4790-91E8-642A99622A5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4E5-4790-91E8-642A99622A5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44E5-4790-91E8-642A99622A5F}"/>
              </c:ext>
            </c:extLst>
          </c:dPt>
          <c:cat>
            <c:strRef>
              <c:f>Sheet1!$A$2:$A$5</c:f>
              <c:strCache>
                <c:ptCount val="2"/>
                <c:pt idx="0">
                  <c:v>第 1 四半期</c:v>
                </c:pt>
                <c:pt idx="1">
                  <c:v>第 2 四半期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0.35</c:v>
                </c:pt>
                <c:pt idx="1">
                  <c:v>0.65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4E5-4790-91E8-642A99622A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864013287401576"/>
          <c:y val="0.145687491037925"/>
          <c:w val="0.56954170767716539"/>
          <c:h val="0.85431250896207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売上高</c:v>
                </c:pt>
              </c:strCache>
            </c:strRef>
          </c:tx>
          <c:explosion val="17"/>
          <c:dPt>
            <c:idx val="0"/>
            <c:bubble3D val="0"/>
            <c:spPr>
              <a:solidFill>
                <a:schemeClr val="bg2"/>
              </a:solidFill>
              <a:ln w="19050">
                <a:solidFill>
                  <a:schemeClr val="bg2">
                    <a:lumMod val="9000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D0B-4B6B-98B3-F29EC4DA37A6}"/>
              </c:ext>
            </c:extLst>
          </c:dPt>
          <c:dPt>
            <c:idx val="1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D0B-4B6B-98B3-F29EC4DA37A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D0B-4B6B-98B3-F29EC4DA37A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D0B-4B6B-98B3-F29EC4DA37A6}"/>
              </c:ext>
            </c:extLst>
          </c:dPt>
          <c:cat>
            <c:strRef>
              <c:f>Sheet1!$A$2:$A$5</c:f>
              <c:strCache>
                <c:ptCount val="2"/>
                <c:pt idx="0">
                  <c:v>第 1 四半期</c:v>
                </c:pt>
                <c:pt idx="1">
                  <c:v>第 2 四半期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D0B-4B6B-98B3-F29EC4DA37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0.53244</cdr:x>
      <cdr:y>0</cdr:y>
    </cdr:from>
    <cdr:to>
      <cdr:x>0.80649</cdr:x>
      <cdr:y>0.36535</cdr:y>
    </cdr:to>
    <cdr:sp macro="" textlink="">
      <cdr:nvSpPr>
        <cdr:cNvPr id="2" name="テキスト ボックス 1">
          <a:extLst xmlns:a="http://schemas.openxmlformats.org/drawingml/2006/main">
            <a:ext uri="{FF2B5EF4-FFF2-40B4-BE49-F238E27FC236}">
              <a16:creationId xmlns:a16="http://schemas.microsoft.com/office/drawing/2014/main" id="{EA4AEFA9-6F1D-50B4-9B58-FB4E8163EBB5}"/>
            </a:ext>
          </a:extLst>
        </cdr:cNvPr>
        <cdr:cNvSpPr txBox="1"/>
      </cdr:nvSpPr>
      <cdr:spPr>
        <a:xfrm xmlns:a="http://schemas.openxmlformats.org/drawingml/2006/main">
          <a:off x="1776526" y="-2431822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ja-JP" altLang="en-US" sz="2000" b="1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48223-7C55-4CDC-B538-46923D402C1B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A32AE7-A542-42E7-9BC5-097700EA2F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2680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アジェンダの前に企画の概要説明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2AE7-A542-42E7-9BC5-097700EA2FE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7617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2AE7-A542-42E7-9BC5-097700EA2FE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031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該当のターゲットは存在するか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2AE7-A542-42E7-9BC5-097700EA2FE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01235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ネガティブからポジティブに変換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2AE7-A542-42E7-9BC5-097700EA2FE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70373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視線を向けるアンケート結果から作成。</a:t>
            </a:r>
            <a:endParaRPr kumimoji="1" lang="en-US" altLang="ja-JP" dirty="0"/>
          </a:p>
          <a:p>
            <a:r>
              <a:rPr kumimoji="1" lang="ja-JP" altLang="en-US" dirty="0"/>
              <a:t>柱を利用するのは、視線の誘導が建物上部より楽だから。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2AE7-A542-42E7-9BC5-097700EA2FE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2325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広告体験を受けて、新宿の治安改善に貢献したかの調査をする必要がある。</a:t>
            </a:r>
            <a:endParaRPr kumimoji="1" lang="en-US" altLang="ja-JP" dirty="0"/>
          </a:p>
          <a:p>
            <a:r>
              <a:rPr kumimoji="1" lang="ja-JP" altLang="en-US" dirty="0"/>
              <a:t>抱える不安のイメージを払拭するための映像を模索する必要がある。</a:t>
            </a:r>
            <a:endParaRPr kumimoji="1" lang="en-US" altLang="ja-JP" dirty="0"/>
          </a:p>
          <a:p>
            <a:r>
              <a:rPr kumimoji="1" lang="ja-JP" altLang="en-US" dirty="0"/>
              <a:t>男女のアプローチの差も考える必要がある。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A32AE7-A542-42E7-9BC5-097700EA2FE7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5777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A8BCBA-E9DE-0E06-BB12-997CF9AD5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C07C595-8C5B-93F6-4884-442F2B898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89BBA5-4ED5-67C2-3E4E-3FB22619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9D53-112B-4E7C-BF98-CCEAD44F6DEF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9AE508-5094-4501-285E-7B699D74F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1E6C08-BAA1-4753-2997-689135AC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7E859-DCB6-4E27-86B7-3519DC897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326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618C33-A27C-0D76-BD64-2F99D063F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DD210A-0368-FE86-129C-B79EBD905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C2045D-2465-8142-A993-018E7E6E8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9D53-112B-4E7C-BF98-CCEAD44F6DEF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395275B-42D9-984C-49D1-4524AB79C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3DE672-D4DE-AA1A-86C0-3171E6479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7E859-DCB6-4E27-86B7-3519DC897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4144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47E247-4DDC-CFBE-CD20-A82D70C3E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2A07F86-B366-3909-0B4D-335CC4D0A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CE4CCE-128C-E66B-1EB7-EB7B01AC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9D53-112B-4E7C-BF98-CCEAD44F6DEF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26D9679-582C-C8A9-6AD2-FBEB1DC6F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EE9B7C-2412-D6B2-4932-EDC0AC82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7E859-DCB6-4E27-86B7-3519DC897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0967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6CBE2E-ADA3-1498-1FF7-FF00F767B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B1587B-5B46-7CF1-296E-0ED418A0E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D106F8-8B5B-0CD7-32DC-8CD51F551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D61A1D-B4B6-06A5-61E1-99D28389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9D53-112B-4E7C-BF98-CCEAD44F6DEF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A38820-89B6-07F2-A158-AD701EF3A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A5C2C1-3C44-F27D-8D7D-B38F2EE1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7E859-DCB6-4E27-86B7-3519DC897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436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69FFD9-A2D9-EEAD-ED47-62C20744A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6159DC-F0E2-357E-154D-3076B9F6B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4EB90AB-7EA3-4CD1-3B76-1C1633394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85E5927-F367-9ED2-C47C-AF6D7FE29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68841B6-F96F-95E5-378F-171A870650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7B30762-BB0B-972A-1190-4A41DE9F0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9D53-112B-4E7C-BF98-CCEAD44F6DEF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318A604-3263-8370-A520-C18585DB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CAD8315-F670-C44D-20BD-E1D74082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7E859-DCB6-4E27-86B7-3519DC897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69A759-97E3-440E-1956-4C62BC2B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FF35C61-5C6B-CB1A-2882-9759A38BF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9D53-112B-4E7C-BF98-CCEAD44F6DEF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66D9773-D9A2-8FC1-83AC-04A40205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3B26C17-8D6B-1BA5-AA93-0693CACB1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7E859-DCB6-4E27-86B7-3519DC897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5351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A02F576-5BBE-7F74-2DBB-64D738473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9D53-112B-4E7C-BF98-CCEAD44F6DEF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C4F7EF3-AF26-03C4-F766-E91C8E008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682FB0-1FE5-1972-DCA8-E9D0D1AD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7E859-DCB6-4E27-86B7-3519DC897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0707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D46655-1DDD-27FF-F85F-EA3C33D99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CAF5D6-7208-8875-17BC-2F31F7D81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F4A1918-F190-A43D-2C69-60FA7B171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13715FA-A545-6C0B-9753-1FAE60D5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9D53-112B-4E7C-BF98-CCEAD44F6DEF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16904A-2EE3-85EF-8C40-D9A76272D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BE116F-D079-3983-A29E-2FFB5AEDE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7E859-DCB6-4E27-86B7-3519DC897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0635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DBB93E-E144-1F84-502E-767FB6A91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EBEABB-9A3B-2551-D438-5D03D97F7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D6D62EA-9329-5B34-A457-8434BAD926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DDB506E-7165-3C1F-BD82-92C0B0F91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9D53-112B-4E7C-BF98-CCEAD44F6DEF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E4E9939-7F91-001B-79ED-F43A67E0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64EFC50-9863-FF02-EFD2-3C4FF6E5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7E859-DCB6-4E27-86B7-3519DC897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711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3888BC-0DFF-87B4-C951-AC6BC0F6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CF9D78-BDDA-5C9C-B91C-83145D1932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60E39D-655A-23C5-24F3-0D6EAFCEB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9D53-112B-4E7C-BF98-CCEAD44F6DEF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7594407-BF6A-8BCF-DA31-2BFBC9C6C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BB32E3-F72F-C13C-7E48-DA4CCE285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7E859-DCB6-4E27-86B7-3519DC897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3760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C898616-A879-43AD-931F-9D88E576E5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C6264B-A710-983D-9823-888924BC9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9BB0A70-5963-B947-9DED-803B11A0D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49D53-112B-4E7C-BF98-CCEAD44F6DEF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9E6718-CC0D-4851-941B-5DD755766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7DC470-7119-6725-AEB9-C84982D95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7E859-DCB6-4E27-86B7-3519DC897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6297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4C17A5D-4F76-5A2A-A775-799DB0060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3CB193-F149-70F3-F9EE-DBBDDF64C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8A1AD9-E206-4D5B-C866-9801A44AA5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E49D53-112B-4E7C-BF98-CCEAD44F6DEF}" type="datetimeFigureOut">
              <a:rPr kumimoji="1" lang="ja-JP" altLang="en-US" smtClean="0"/>
              <a:t>2026/5/12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930839-FA0C-EC05-E298-3969A0516E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EC5C01-A531-C833-0E6E-078F500D4B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7E859-DCB6-4E27-86B7-3519DC897C7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126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517681-ACE8-77FB-4BDF-5EC11B751C4E}"/>
              </a:ext>
            </a:extLst>
          </p:cNvPr>
          <p:cNvSpPr txBox="1"/>
          <p:nvPr/>
        </p:nvSpPr>
        <p:spPr>
          <a:xfrm>
            <a:off x="4318911" y="1393958"/>
            <a:ext cx="355417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500" b="1" dirty="0"/>
              <a:t>新 宿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9888E49-D5BF-0536-1EC3-53050F4B2A71}"/>
              </a:ext>
            </a:extLst>
          </p:cNvPr>
          <p:cNvCxnSpPr>
            <a:cxnSpLocks/>
          </p:cNvCxnSpPr>
          <p:nvPr/>
        </p:nvCxnSpPr>
        <p:spPr>
          <a:xfrm flipH="1">
            <a:off x="5391665" y="3607790"/>
            <a:ext cx="14086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F241DB9-AD23-D330-4B25-FA0E19ED839D}"/>
              </a:ext>
            </a:extLst>
          </p:cNvPr>
          <p:cNvSpPr txBox="1"/>
          <p:nvPr/>
        </p:nvSpPr>
        <p:spPr>
          <a:xfrm>
            <a:off x="4002317" y="4210263"/>
            <a:ext cx="4187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「新」 し さ を 提 供 す る。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7A2CC7F-5BD4-0E80-F182-BCA9A9CCC589}"/>
              </a:ext>
            </a:extLst>
          </p:cNvPr>
          <p:cNvSpPr txBox="1"/>
          <p:nvPr/>
        </p:nvSpPr>
        <p:spPr>
          <a:xfrm>
            <a:off x="347134" y="4671928"/>
            <a:ext cx="163538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原口 愛菜</a:t>
            </a:r>
            <a:endParaRPr kumimoji="1" lang="en-US" altLang="ja-JP" dirty="0"/>
          </a:p>
          <a:p>
            <a:r>
              <a:rPr lang="ja-JP" altLang="en-US" dirty="0"/>
              <a:t>大豆生田 望来</a:t>
            </a:r>
            <a:endParaRPr lang="en-US" altLang="ja-JP" dirty="0"/>
          </a:p>
          <a:p>
            <a:r>
              <a:rPr lang="ja-JP" altLang="en-US" dirty="0"/>
              <a:t>柳原 あかり</a:t>
            </a:r>
            <a:endParaRPr lang="en-US" altLang="ja-JP" dirty="0"/>
          </a:p>
          <a:p>
            <a:r>
              <a:rPr kumimoji="1" lang="ja-JP" altLang="en-US" dirty="0"/>
              <a:t>伊藤</a:t>
            </a:r>
            <a:r>
              <a:rPr lang="en-US" altLang="ja-JP" dirty="0"/>
              <a:t> </a:t>
            </a:r>
            <a:r>
              <a:rPr lang="ja-JP" altLang="en-US" dirty="0"/>
              <a:t>悠太郎</a:t>
            </a:r>
            <a:endParaRPr lang="en-US" altLang="ja-JP" dirty="0"/>
          </a:p>
          <a:p>
            <a:r>
              <a:rPr kumimoji="1" lang="ja-JP" altLang="en-US" dirty="0"/>
              <a:t>秦 拓夢</a:t>
            </a:r>
            <a:endParaRPr kumimoji="1" lang="en-US" altLang="ja-JP" dirty="0"/>
          </a:p>
          <a:p>
            <a:r>
              <a:rPr lang="ja-JP" altLang="en-US" dirty="0"/>
              <a:t>鍋島 翔太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C76ABDD-4810-B94C-2D94-6846D82733D1}"/>
              </a:ext>
            </a:extLst>
          </p:cNvPr>
          <p:cNvSpPr txBox="1"/>
          <p:nvPr/>
        </p:nvSpPr>
        <p:spPr>
          <a:xfrm>
            <a:off x="1187909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46553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DF2B2-E182-A40E-1F7D-E7249FDB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F27770-E85B-6A8C-889F-CA5B6C338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992" y="336238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Agenda</a:t>
            </a:r>
            <a:endParaRPr kumimoji="1" lang="ja-JP" altLang="en-US" b="1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FB386E3-5EB6-3DBB-C9B4-2D965C5E6251}"/>
              </a:ext>
            </a:extLst>
          </p:cNvPr>
          <p:cNvSpPr/>
          <p:nvPr/>
        </p:nvSpPr>
        <p:spPr>
          <a:xfrm>
            <a:off x="244621" y="441058"/>
            <a:ext cx="45719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24086A-8D3E-B23F-0F5E-81B5BB169D7B}"/>
              </a:ext>
            </a:extLst>
          </p:cNvPr>
          <p:cNvSpPr txBox="1"/>
          <p:nvPr/>
        </p:nvSpPr>
        <p:spPr>
          <a:xfrm>
            <a:off x="1187909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B73E38-5732-077B-8057-10D513BD1155}"/>
              </a:ext>
            </a:extLst>
          </p:cNvPr>
          <p:cNvSpPr/>
          <p:nvPr/>
        </p:nvSpPr>
        <p:spPr>
          <a:xfrm>
            <a:off x="1296436" y="1680121"/>
            <a:ext cx="443345" cy="44334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１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317898-03B5-4401-5C38-86A73DF7521A}"/>
              </a:ext>
            </a:extLst>
          </p:cNvPr>
          <p:cNvSpPr txBox="1"/>
          <p:nvPr/>
        </p:nvSpPr>
        <p:spPr>
          <a:xfrm>
            <a:off x="1739781" y="166180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目標</a:t>
            </a:r>
            <a:endParaRPr kumimoji="1" lang="ja-JP" alt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61442BCA-AB52-8ED0-20C6-0116E7CBE279}"/>
              </a:ext>
            </a:extLst>
          </p:cNvPr>
          <p:cNvSpPr/>
          <p:nvPr/>
        </p:nvSpPr>
        <p:spPr>
          <a:xfrm>
            <a:off x="1296436" y="2349757"/>
            <a:ext cx="443345" cy="4885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2</a:t>
            </a:r>
            <a:endParaRPr kumimoji="1" lang="ja-JP" altLang="en-US" dirty="0">
              <a:solidFill>
                <a:schemeClr val="tx1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B38C2A4-D4FC-0A4F-D66B-91FF513953BB}"/>
              </a:ext>
            </a:extLst>
          </p:cNvPr>
          <p:cNvSpPr txBox="1"/>
          <p:nvPr/>
        </p:nvSpPr>
        <p:spPr>
          <a:xfrm>
            <a:off x="1739781" y="2331437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調査と結果</a:t>
            </a:r>
            <a:endParaRPr kumimoji="1" lang="ja-JP" alt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F128B6D4-3322-9255-8E10-9E37BBB3A921}"/>
              </a:ext>
            </a:extLst>
          </p:cNvPr>
          <p:cNvSpPr/>
          <p:nvPr/>
        </p:nvSpPr>
        <p:spPr>
          <a:xfrm>
            <a:off x="1296436" y="3037713"/>
            <a:ext cx="443345" cy="4885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3</a:t>
            </a:r>
            <a:endParaRPr kumimoji="1" lang="ja-JP" altLang="en-US" dirty="0">
              <a:solidFill>
                <a:schemeClr val="tx1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B3EAA99-3B5F-DBE2-EFA1-9015E84CE3FE}"/>
              </a:ext>
            </a:extLst>
          </p:cNvPr>
          <p:cNvSpPr txBox="1"/>
          <p:nvPr/>
        </p:nvSpPr>
        <p:spPr>
          <a:xfrm>
            <a:off x="1739781" y="3019393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体験の設計</a:t>
            </a:r>
            <a:endParaRPr kumimoji="1" lang="ja-JP" alt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884CDC6A-3311-EF0C-854F-5FE70BC36312}"/>
              </a:ext>
            </a:extLst>
          </p:cNvPr>
          <p:cNvSpPr/>
          <p:nvPr/>
        </p:nvSpPr>
        <p:spPr>
          <a:xfrm>
            <a:off x="1302644" y="3725669"/>
            <a:ext cx="443345" cy="4885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4</a:t>
            </a:r>
            <a:endParaRPr kumimoji="1" lang="ja-JP" altLang="en-US" dirty="0">
              <a:solidFill>
                <a:schemeClr val="tx1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90F3640-C826-E3A2-00B7-9F14D40C5747}"/>
              </a:ext>
            </a:extLst>
          </p:cNvPr>
          <p:cNvSpPr txBox="1"/>
          <p:nvPr/>
        </p:nvSpPr>
        <p:spPr>
          <a:xfrm>
            <a:off x="1745989" y="3707349"/>
            <a:ext cx="3001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Concept Prototype</a:t>
            </a:r>
            <a:endParaRPr kumimoji="1" lang="ja-JP" alt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D560B3AE-4BFA-A511-A207-234B3FB6F08B}"/>
              </a:ext>
            </a:extLst>
          </p:cNvPr>
          <p:cNvSpPr/>
          <p:nvPr/>
        </p:nvSpPr>
        <p:spPr>
          <a:xfrm>
            <a:off x="1296436" y="4413625"/>
            <a:ext cx="443345" cy="4885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5</a:t>
            </a:r>
            <a:endParaRPr kumimoji="1" lang="ja-JP" altLang="en-US" dirty="0">
              <a:solidFill>
                <a:schemeClr val="tx1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EEC140E-E52B-6714-AD89-4F2A1457C9CE}"/>
              </a:ext>
            </a:extLst>
          </p:cNvPr>
          <p:cNvSpPr txBox="1"/>
          <p:nvPr/>
        </p:nvSpPr>
        <p:spPr>
          <a:xfrm>
            <a:off x="1739781" y="4430893"/>
            <a:ext cx="2254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Sample Video</a:t>
            </a:r>
            <a:endParaRPr kumimoji="1" lang="ja-JP" altLang="en-US" sz="2400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F12BEDF6-71AD-55E1-3E27-A6D48C5B8AB4}"/>
              </a:ext>
            </a:extLst>
          </p:cNvPr>
          <p:cNvSpPr/>
          <p:nvPr/>
        </p:nvSpPr>
        <p:spPr>
          <a:xfrm>
            <a:off x="1296436" y="5119901"/>
            <a:ext cx="443345" cy="4885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6</a:t>
            </a:r>
            <a:endParaRPr kumimoji="1" lang="ja-JP" altLang="en-US" dirty="0">
              <a:solidFill>
                <a:schemeClr val="tx1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4F82B68-549D-72D0-7650-E739DCC8B306}"/>
              </a:ext>
            </a:extLst>
          </p:cNvPr>
          <p:cNvSpPr txBox="1"/>
          <p:nvPr/>
        </p:nvSpPr>
        <p:spPr>
          <a:xfrm>
            <a:off x="1739781" y="510158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次の課題</a:t>
            </a:r>
            <a:endParaRPr kumimoji="1" lang="ja-JP" alt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1355F2C4-E9BE-43D9-D537-B12BD0434248}"/>
              </a:ext>
            </a:extLst>
          </p:cNvPr>
          <p:cNvSpPr/>
          <p:nvPr/>
        </p:nvSpPr>
        <p:spPr>
          <a:xfrm>
            <a:off x="1293408" y="5807857"/>
            <a:ext cx="443345" cy="48852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7</a:t>
            </a:r>
            <a:endParaRPr kumimoji="1" lang="ja-JP" altLang="en-US" dirty="0">
              <a:solidFill>
                <a:schemeClr val="tx1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560B7E8-33D6-AA19-956A-2F3CAF099D4F}"/>
              </a:ext>
            </a:extLst>
          </p:cNvPr>
          <p:cNvSpPr txBox="1"/>
          <p:nvPr/>
        </p:nvSpPr>
        <p:spPr>
          <a:xfrm>
            <a:off x="1736753" y="5789537"/>
            <a:ext cx="1632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latin typeface="Noto Sans JP" panose="020B0200000000000000" pitchFamily="50" charset="-128"/>
                <a:ea typeface="Noto Sans JP" panose="020B0200000000000000" pitchFamily="50" charset="-128"/>
              </a:rPr>
              <a:t>Roadmap</a:t>
            </a:r>
            <a:endParaRPr kumimoji="1" lang="ja-JP" altLang="en-US" b="1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870767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4D923-B66A-6290-21B3-C45B90461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E6BF81-F333-53B7-CE68-F8C2C7BE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992" y="336238"/>
            <a:ext cx="10515600" cy="1325563"/>
          </a:xfrm>
        </p:spPr>
        <p:txBody>
          <a:bodyPr/>
          <a:lstStyle/>
          <a:p>
            <a:r>
              <a:rPr kumimoji="1" lang="ja-JP" altLang="en-US" b="1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目標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09CED20-8F08-5E31-D9D3-B320E47BF5EC}"/>
              </a:ext>
            </a:extLst>
          </p:cNvPr>
          <p:cNvSpPr/>
          <p:nvPr/>
        </p:nvSpPr>
        <p:spPr>
          <a:xfrm>
            <a:off x="244621" y="1968144"/>
            <a:ext cx="2890980" cy="52260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8499">
              <a:buClr>
                <a:srgbClr val="000000"/>
              </a:buClr>
              <a:defRPr/>
            </a:pPr>
            <a:r>
              <a:rPr lang="ja-JP" altLang="en-US" sz="2996" kern="0" dirty="0">
                <a:solidFill>
                  <a:prstClr val="white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sym typeface="Arial"/>
              </a:rPr>
              <a:t>現 状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3E8FB02-AE52-C1FE-5C03-7CF8A7F61850}"/>
              </a:ext>
            </a:extLst>
          </p:cNvPr>
          <p:cNvSpPr/>
          <p:nvPr/>
        </p:nvSpPr>
        <p:spPr>
          <a:xfrm>
            <a:off x="244621" y="2490744"/>
            <a:ext cx="2890980" cy="31689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78499">
              <a:buClr>
                <a:srgbClr val="000000"/>
              </a:buClr>
              <a:defRPr/>
            </a:pPr>
            <a:endParaRPr lang="ja-JP" altLang="en-US" sz="1498" kern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  <a:sym typeface="Arial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6263093-F17A-27AF-F000-3C89587433BD}"/>
              </a:ext>
            </a:extLst>
          </p:cNvPr>
          <p:cNvSpPr/>
          <p:nvPr/>
        </p:nvSpPr>
        <p:spPr>
          <a:xfrm>
            <a:off x="6096000" y="1968144"/>
            <a:ext cx="2890980" cy="5226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8499">
              <a:buClr>
                <a:srgbClr val="000000"/>
              </a:buClr>
              <a:defRPr/>
            </a:pPr>
            <a:r>
              <a:rPr lang="ja-JP" altLang="en-US" sz="2996" kern="0" dirty="0">
                <a:solidFill>
                  <a:prstClr val="white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sym typeface="Arial"/>
              </a:rPr>
              <a:t>理 想 の 状 態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6C3CBAF-C0A3-C69A-4BAA-09D6D72B0FC6}"/>
              </a:ext>
            </a:extLst>
          </p:cNvPr>
          <p:cNvSpPr/>
          <p:nvPr/>
        </p:nvSpPr>
        <p:spPr>
          <a:xfrm>
            <a:off x="6096000" y="2490744"/>
            <a:ext cx="2890980" cy="31689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78499">
              <a:buClr>
                <a:srgbClr val="000000"/>
              </a:buClr>
              <a:defRPr/>
            </a:pPr>
            <a:endParaRPr lang="ja-JP" altLang="en-US" sz="1498" kern="0">
              <a:solidFill>
                <a:prstClr val="black"/>
              </a:solidFill>
              <a:latin typeface="游ゴシック" panose="020F0502020204030204"/>
              <a:ea typeface="游ゴシック" panose="020B0400000000000000" pitchFamily="50" charset="-128"/>
              <a:sym typeface="Arial"/>
            </a:endParaRP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FA6AD173-538A-93B4-08C7-B88CDB23C8F3}"/>
              </a:ext>
            </a:extLst>
          </p:cNvPr>
          <p:cNvSpPr/>
          <p:nvPr/>
        </p:nvSpPr>
        <p:spPr>
          <a:xfrm>
            <a:off x="3469177" y="2023739"/>
            <a:ext cx="2412857" cy="411408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8499">
              <a:buClr>
                <a:srgbClr val="000000"/>
              </a:buClr>
              <a:defRPr/>
            </a:pPr>
            <a:endParaRPr lang="ja-JP" altLang="en-US" sz="1498" kern="0">
              <a:solidFill>
                <a:prstClr val="white"/>
              </a:solidFill>
              <a:latin typeface="游ゴシック" panose="020F0502020204030204"/>
              <a:ea typeface="游ゴシック" panose="020B0400000000000000" pitchFamily="50" charset="-128"/>
              <a:sym typeface="Arial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E691335-F117-18E6-1F81-841AE64A6F31}"/>
              </a:ext>
            </a:extLst>
          </p:cNvPr>
          <p:cNvSpPr/>
          <p:nvPr/>
        </p:nvSpPr>
        <p:spPr>
          <a:xfrm>
            <a:off x="3469177" y="2693525"/>
            <a:ext cx="2412857" cy="52260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8499">
              <a:buClr>
                <a:srgbClr val="000000"/>
              </a:buClr>
              <a:defRPr/>
            </a:pPr>
            <a:r>
              <a:rPr lang="ja-JP" altLang="en-US" sz="2568" kern="0" dirty="0">
                <a:solidFill>
                  <a:prstClr val="white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sym typeface="Arial"/>
              </a:rPr>
              <a:t>手 段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C946B77-EE8B-7283-0830-081075D31A1E}"/>
              </a:ext>
            </a:extLst>
          </p:cNvPr>
          <p:cNvSpPr/>
          <p:nvPr/>
        </p:nvSpPr>
        <p:spPr>
          <a:xfrm>
            <a:off x="3469177" y="3216124"/>
            <a:ext cx="2412857" cy="24435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78499">
              <a:buClr>
                <a:srgbClr val="000000"/>
              </a:buClr>
              <a:defRPr/>
            </a:pPr>
            <a:r>
              <a:rPr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広告に参加し寄付することで、モノクロの新宿の街が色づく演出を見れことにより、貢献した気持ち＋視覚の二面から成功体験を提供する</a:t>
            </a:r>
            <a:endParaRPr lang="en-US" altLang="ja-JP" sz="2000" kern="0" dirty="0">
              <a:solidFill>
                <a:prstClr val="black"/>
              </a:solidFill>
              <a:latin typeface="Noto Sans JP" panose="020B0200000000000000" pitchFamily="50" charset="-128"/>
              <a:ea typeface="Noto Sans JP" panose="020B0200000000000000" pitchFamily="50" charset="-128"/>
              <a:sym typeface="Arial"/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17238F60-71FF-C002-7AF8-D4C7535CFDEC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675606" y="2312837"/>
            <a:ext cx="0" cy="380687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矢印: 右 14">
            <a:extLst>
              <a:ext uri="{FF2B5EF4-FFF2-40B4-BE49-F238E27FC236}">
                <a16:creationId xmlns:a16="http://schemas.microsoft.com/office/drawing/2014/main" id="{34B693A3-EEDE-1A8D-D0A1-EBA7F47C24BD}"/>
              </a:ext>
            </a:extLst>
          </p:cNvPr>
          <p:cNvSpPr/>
          <p:nvPr/>
        </p:nvSpPr>
        <p:spPr>
          <a:xfrm>
            <a:off x="9056401" y="2023738"/>
            <a:ext cx="417120" cy="411408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8499">
              <a:buClr>
                <a:srgbClr val="000000"/>
              </a:buClr>
              <a:defRPr/>
            </a:pPr>
            <a:endParaRPr lang="ja-JP" altLang="en-US" sz="1498" kern="0">
              <a:solidFill>
                <a:prstClr val="white"/>
              </a:solidFill>
              <a:latin typeface="游ゴシック" panose="020F0502020204030204"/>
              <a:ea typeface="游ゴシック" panose="020B0400000000000000" pitchFamily="50" charset="-128"/>
              <a:sym typeface="Arial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60C50EB-EC3D-E210-13AF-2C6B8B4457D7}"/>
              </a:ext>
            </a:extLst>
          </p:cNvPr>
          <p:cNvSpPr/>
          <p:nvPr/>
        </p:nvSpPr>
        <p:spPr>
          <a:xfrm>
            <a:off x="9562285" y="1968144"/>
            <a:ext cx="2412857" cy="5226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78499">
              <a:buClr>
                <a:srgbClr val="000000"/>
              </a:buClr>
              <a:defRPr/>
            </a:pPr>
            <a:r>
              <a:rPr lang="ja-JP" altLang="en-US" sz="2568" kern="0" dirty="0">
                <a:solidFill>
                  <a:prstClr val="white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sym typeface="Arial"/>
              </a:rPr>
              <a:t>叶うこと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1B8E812-FD15-8395-C862-981DA976CCF2}"/>
              </a:ext>
            </a:extLst>
          </p:cNvPr>
          <p:cNvSpPr/>
          <p:nvPr/>
        </p:nvSpPr>
        <p:spPr>
          <a:xfrm>
            <a:off x="9562285" y="2490744"/>
            <a:ext cx="2412857" cy="31689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78499">
              <a:lnSpc>
                <a:spcPct val="200000"/>
              </a:lnSpc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prstClr val="black"/>
                </a:solidFill>
                <a:latin typeface="Noto Sans JP" panose="020B0200000000000000" pitchFamily="50" charset="-128"/>
                <a:ea typeface="Noto Sans JP" panose="020B0200000000000000" pitchFamily="50" charset="-128"/>
                <a:sym typeface="Arial"/>
              </a:rPr>
              <a:t>新宿の治安の</a:t>
            </a:r>
            <a:endParaRPr lang="en-US" altLang="ja-JP" sz="2400" kern="0" dirty="0">
              <a:solidFill>
                <a:prstClr val="black"/>
              </a:solidFill>
              <a:latin typeface="Noto Sans JP" panose="020B0200000000000000" pitchFamily="50" charset="-128"/>
              <a:ea typeface="Noto Sans JP" panose="020B0200000000000000" pitchFamily="50" charset="-128"/>
              <a:sym typeface="Arial"/>
            </a:endParaRPr>
          </a:p>
          <a:p>
            <a:pPr algn="ctr" defTabSz="978499">
              <a:lnSpc>
                <a:spcPct val="200000"/>
              </a:lnSpc>
              <a:buClr>
                <a:srgbClr val="000000"/>
              </a:buClr>
              <a:defRPr/>
            </a:pPr>
            <a:r>
              <a:rPr lang="ja-JP" altLang="en-US" sz="2400" kern="0" dirty="0">
                <a:solidFill>
                  <a:prstClr val="black"/>
                </a:solidFill>
                <a:latin typeface="Noto Sans JP" panose="020B0200000000000000" pitchFamily="50" charset="-128"/>
                <a:ea typeface="Noto Sans JP" panose="020B0200000000000000" pitchFamily="50" charset="-128"/>
                <a:sym typeface="Arial"/>
              </a:rPr>
              <a:t>不安がなくなる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AA8B59-8E37-E79E-531F-09053EDD7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992" y="3351239"/>
            <a:ext cx="2614237" cy="144797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60000"/>
              </a:lnSpc>
              <a:buNone/>
            </a:pP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新宿の治安に</a:t>
            </a:r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marL="0" indent="0" algn="ctr">
              <a:lnSpc>
                <a:spcPct val="160000"/>
              </a:lnSpc>
              <a:buNone/>
            </a:pPr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不安を持っている</a:t>
            </a:r>
          </a:p>
        </p:txBody>
      </p:sp>
      <p:sp>
        <p:nvSpPr>
          <p:cNvPr id="18" name="コンテンツ プレースホルダー 2">
            <a:extLst>
              <a:ext uri="{FF2B5EF4-FFF2-40B4-BE49-F238E27FC236}">
                <a16:creationId xmlns:a16="http://schemas.microsoft.com/office/drawing/2014/main" id="{A5DA8FAF-2933-6E97-1FF4-DBA589F7B6F7}"/>
              </a:ext>
            </a:extLst>
          </p:cNvPr>
          <p:cNvSpPr txBox="1">
            <a:spLocks/>
          </p:cNvSpPr>
          <p:nvPr/>
        </p:nvSpPr>
        <p:spPr>
          <a:xfrm>
            <a:off x="6234372" y="2693523"/>
            <a:ext cx="2614237" cy="2758092"/>
          </a:xfrm>
          <a:prstGeom prst="rect">
            <a:avLst/>
          </a:prstGeom>
        </p:spPr>
        <p:txBody>
          <a:bodyPr numCol="1" spcCol="144000"/>
          <a:lstStyle>
            <a:lvl1pPr marL="213627" indent="-213627" algn="l" defTabSz="854507" rtl="0" eaLnBrk="1" latinLnBrk="0" hangingPunct="1">
              <a:lnSpc>
                <a:spcPct val="90000"/>
              </a:lnSpc>
              <a:spcBef>
                <a:spcPts val="935"/>
              </a:spcBef>
              <a:buFont typeface="Arial" panose="020B0604020202020204" pitchFamily="34" charset="0"/>
              <a:buChar char="•"/>
              <a:defRPr kumimoji="1" sz="2617" b="0" i="0" kern="120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640880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2243" b="0" i="0" kern="120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2pPr>
            <a:lvl3pPr marL="1068134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1869" b="0" i="0" kern="120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3pPr>
            <a:lvl4pPr marL="1495387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1682" b="0" i="0" kern="120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4pPr>
            <a:lvl5pPr marL="1922640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1682" b="0" i="0" kern="120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5pPr>
            <a:lvl6pPr marL="2349894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16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7147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16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4401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16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31654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16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8">
              <a:lnSpc>
                <a:spcPct val="200000"/>
              </a:lnSpc>
              <a:spcBef>
                <a:spcPts val="1001"/>
              </a:spcBef>
              <a:buNone/>
              <a:defRPr/>
            </a:pP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  <a:sym typeface="Arial"/>
              </a:rPr>
              <a:t>新宿の治安の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  <a:sym typeface="Arial"/>
            </a:endParaRPr>
          </a:p>
          <a:p>
            <a:pPr marL="0" indent="0" algn="ctr" defTabSz="914408">
              <a:lnSpc>
                <a:spcPct val="200000"/>
              </a:lnSpc>
              <a:spcBef>
                <a:spcPts val="1001"/>
              </a:spcBef>
              <a:buNone/>
              <a:defRPr/>
            </a:pP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  <a:sym typeface="Arial"/>
              </a:rPr>
              <a:t>イメージを</a:t>
            </a:r>
            <a:endParaRPr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  <a:sym typeface="Arial"/>
            </a:endParaRPr>
          </a:p>
          <a:p>
            <a:pPr marL="0" indent="0" algn="ctr" defTabSz="914408">
              <a:lnSpc>
                <a:spcPct val="200000"/>
              </a:lnSpc>
              <a:spcBef>
                <a:spcPts val="1001"/>
              </a:spcBef>
              <a:buNone/>
              <a:defRPr/>
            </a:pPr>
            <a:r>
              <a:rPr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  <a:sym typeface="Arial"/>
              </a:rPr>
              <a:t>ポジティブにする</a:t>
            </a:r>
          </a:p>
        </p:txBody>
      </p:sp>
      <p:sp>
        <p:nvSpPr>
          <p:cNvPr id="19" name="コンテンツ プレースホルダー 2">
            <a:extLst>
              <a:ext uri="{FF2B5EF4-FFF2-40B4-BE49-F238E27FC236}">
                <a16:creationId xmlns:a16="http://schemas.microsoft.com/office/drawing/2014/main" id="{93AED1D8-465E-A4BD-9524-275687D6BA4B}"/>
              </a:ext>
            </a:extLst>
          </p:cNvPr>
          <p:cNvSpPr txBox="1">
            <a:spLocks/>
          </p:cNvSpPr>
          <p:nvPr/>
        </p:nvSpPr>
        <p:spPr>
          <a:xfrm>
            <a:off x="9666240" y="2693522"/>
            <a:ext cx="2412857" cy="2758092"/>
          </a:xfrm>
          <a:prstGeom prst="rect">
            <a:avLst/>
          </a:prstGeom>
        </p:spPr>
        <p:txBody>
          <a:bodyPr numCol="1" spcCol="144000"/>
          <a:lstStyle>
            <a:lvl1pPr marL="213627" indent="-213627" algn="l" defTabSz="854507" rtl="0" eaLnBrk="1" latinLnBrk="0" hangingPunct="1">
              <a:lnSpc>
                <a:spcPct val="90000"/>
              </a:lnSpc>
              <a:spcBef>
                <a:spcPts val="935"/>
              </a:spcBef>
              <a:buFont typeface="Arial" panose="020B0604020202020204" pitchFamily="34" charset="0"/>
              <a:buChar char="•"/>
              <a:defRPr kumimoji="1" sz="2617" b="0" i="0" kern="120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1pPr>
            <a:lvl2pPr marL="640880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2243" b="0" i="0" kern="120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2pPr>
            <a:lvl3pPr marL="1068134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1869" b="0" i="0" kern="120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3pPr>
            <a:lvl4pPr marL="1495387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1682" b="0" i="0" kern="120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4pPr>
            <a:lvl5pPr marL="1922640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1682" b="0" i="0" kern="1200">
                <a:solidFill>
                  <a:schemeClr val="tx1"/>
                </a:solidFill>
                <a:latin typeface="Yu Gothic Medium" panose="020B0400000000000000" pitchFamily="34" charset="-128"/>
                <a:ea typeface="Yu Gothic Medium" panose="020B0400000000000000" pitchFamily="34" charset="-128"/>
                <a:cs typeface="+mn-cs"/>
              </a:defRPr>
            </a:lvl5pPr>
            <a:lvl6pPr marL="2349894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16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7147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16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4401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16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31654" indent="-213627" algn="l" defTabSz="854507" rtl="0" eaLnBrk="1" latinLnBrk="0" hangingPunct="1">
              <a:lnSpc>
                <a:spcPct val="90000"/>
              </a:lnSpc>
              <a:spcBef>
                <a:spcPts val="467"/>
              </a:spcBef>
              <a:buFont typeface="Arial" panose="020B0604020202020204" pitchFamily="34" charset="0"/>
              <a:buChar char="•"/>
              <a:defRPr kumimoji="1" sz="168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8">
              <a:spcBef>
                <a:spcPts val="1001"/>
              </a:spcBef>
              <a:buNone/>
              <a:defRPr/>
            </a:pPr>
            <a:endParaRPr lang="ja-JP" altLang="en-US" sz="2800" dirty="0">
              <a:solidFill>
                <a:srgbClr val="A80000"/>
              </a:solidFill>
              <a:sym typeface="Arial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A8E2060-A1E1-8D79-4002-34FAD49972B2}"/>
              </a:ext>
            </a:extLst>
          </p:cNvPr>
          <p:cNvSpPr/>
          <p:nvPr/>
        </p:nvSpPr>
        <p:spPr>
          <a:xfrm>
            <a:off x="244621" y="441058"/>
            <a:ext cx="45719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A8C4A60-5DAD-989A-93B6-FCB73A7A175B}"/>
              </a:ext>
            </a:extLst>
          </p:cNvPr>
          <p:cNvSpPr txBox="1"/>
          <p:nvPr/>
        </p:nvSpPr>
        <p:spPr>
          <a:xfrm>
            <a:off x="1187909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3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97816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5" grpId="0" animBg="1"/>
      <p:bldP spid="16" grpId="0" animBg="1"/>
      <p:bldP spid="17" grpId="0" animBg="1"/>
      <p:bldP spid="3" grpId="0" uiExpand="1" build="p"/>
      <p:bldP spid="18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C2772-A8F9-73AA-1A64-6CDB79C1C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FEE066-5200-D6CC-3E44-ACAAFCEE6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992" y="336238"/>
            <a:ext cx="10515600" cy="1325563"/>
          </a:xfrm>
        </p:spPr>
        <p:txBody>
          <a:bodyPr/>
          <a:lstStyle/>
          <a:p>
            <a:r>
              <a:rPr kumimoji="1" lang="ja-JP" altLang="en-US" b="1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調査と結果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2947F25-7475-F92F-96C8-9186B88909F4}"/>
              </a:ext>
            </a:extLst>
          </p:cNvPr>
          <p:cNvSpPr/>
          <p:nvPr/>
        </p:nvSpPr>
        <p:spPr>
          <a:xfrm>
            <a:off x="244621" y="441058"/>
            <a:ext cx="45719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277FA5DF-0F6F-E72D-3A4F-BF9F64C70DB1}"/>
              </a:ext>
            </a:extLst>
          </p:cNvPr>
          <p:cNvSpPr/>
          <p:nvPr/>
        </p:nvSpPr>
        <p:spPr>
          <a:xfrm>
            <a:off x="545162" y="1908580"/>
            <a:ext cx="3382294" cy="41853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/>
              <a:t>to</a:t>
            </a:r>
            <a:endParaRPr kumimoji="1" lang="ja-JP" altLang="en-US" dirty="0"/>
          </a:p>
        </p:txBody>
      </p:sp>
      <p:graphicFrame>
        <p:nvGraphicFramePr>
          <p:cNvPr id="25" name="グラフ 24">
            <a:extLst>
              <a:ext uri="{FF2B5EF4-FFF2-40B4-BE49-F238E27FC236}">
                <a16:creationId xmlns:a16="http://schemas.microsoft.com/office/drawing/2014/main" id="{CCF0BDCA-DC4F-0CB5-BD58-110782CCA2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3869485"/>
              </p:ext>
            </p:extLst>
          </p:nvPr>
        </p:nvGraphicFramePr>
        <p:xfrm>
          <a:off x="725635" y="2431822"/>
          <a:ext cx="3336575" cy="2502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9A248E8-0E0D-94DA-52E4-558ED7740850}"/>
              </a:ext>
            </a:extLst>
          </p:cNvPr>
          <p:cNvSpPr/>
          <p:nvPr/>
        </p:nvSpPr>
        <p:spPr>
          <a:xfrm>
            <a:off x="4404853" y="1908580"/>
            <a:ext cx="3382294" cy="41853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/>
              <a:t>to</a:t>
            </a:r>
            <a:endParaRPr kumimoji="1" lang="ja-JP" altLang="en-US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4EE9BBD-6436-2024-2FE6-77B20F05B782}"/>
              </a:ext>
            </a:extLst>
          </p:cNvPr>
          <p:cNvSpPr/>
          <p:nvPr/>
        </p:nvSpPr>
        <p:spPr>
          <a:xfrm>
            <a:off x="8282495" y="1908580"/>
            <a:ext cx="3382294" cy="41853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ja-JP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/>
              <a:t>to</a:t>
            </a:r>
            <a:endParaRPr kumimoji="1" lang="ja-JP" altLang="en-US" dirty="0"/>
          </a:p>
        </p:txBody>
      </p:sp>
      <p:graphicFrame>
        <p:nvGraphicFramePr>
          <p:cNvPr id="27" name="グラフ 26">
            <a:extLst>
              <a:ext uri="{FF2B5EF4-FFF2-40B4-BE49-F238E27FC236}">
                <a16:creationId xmlns:a16="http://schemas.microsoft.com/office/drawing/2014/main" id="{265959E9-C9A2-1653-4B66-888765C7BF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839906"/>
              </p:ext>
            </p:extLst>
          </p:nvPr>
        </p:nvGraphicFramePr>
        <p:xfrm>
          <a:off x="8644676" y="2411287"/>
          <a:ext cx="3282702" cy="24802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0" name="グラフ 29">
            <a:extLst>
              <a:ext uri="{FF2B5EF4-FFF2-40B4-BE49-F238E27FC236}">
                <a16:creationId xmlns:a16="http://schemas.microsoft.com/office/drawing/2014/main" id="{533568E7-92E3-9F22-E360-630C190ABF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22487467"/>
              </p:ext>
            </p:extLst>
          </p:nvPr>
        </p:nvGraphicFramePr>
        <p:xfrm>
          <a:off x="4539607" y="2431822"/>
          <a:ext cx="3336575" cy="2502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4E100638-4DC5-133B-EF90-2BE6BD623440}"/>
              </a:ext>
            </a:extLst>
          </p:cNvPr>
          <p:cNvCxnSpPr>
            <a:cxnSpLocks/>
          </p:cNvCxnSpPr>
          <p:nvPr/>
        </p:nvCxnSpPr>
        <p:spPr>
          <a:xfrm>
            <a:off x="895149" y="5130266"/>
            <a:ext cx="2671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B327AAF3-2784-55E4-0060-90EC3AE1FB5A}"/>
              </a:ext>
            </a:extLst>
          </p:cNvPr>
          <p:cNvCxnSpPr>
            <a:cxnSpLocks/>
          </p:cNvCxnSpPr>
          <p:nvPr/>
        </p:nvCxnSpPr>
        <p:spPr>
          <a:xfrm>
            <a:off x="4760360" y="5130266"/>
            <a:ext cx="2671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CC4684CE-3F9A-AA0D-1EFF-7CEFCEAE535F}"/>
              </a:ext>
            </a:extLst>
          </p:cNvPr>
          <p:cNvCxnSpPr>
            <a:cxnSpLocks/>
          </p:cNvCxnSpPr>
          <p:nvPr/>
        </p:nvCxnSpPr>
        <p:spPr>
          <a:xfrm>
            <a:off x="8644676" y="5138288"/>
            <a:ext cx="26712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6168154-F72E-0697-0281-5A6507218108}"/>
              </a:ext>
            </a:extLst>
          </p:cNvPr>
          <p:cNvSpPr txBox="1"/>
          <p:nvPr/>
        </p:nvSpPr>
        <p:spPr>
          <a:xfrm>
            <a:off x="895149" y="5262957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新宿を待ち合わせ</a:t>
            </a:r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で使用するか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B827BCC6-67D5-E3E2-20A3-2F3D4CF168B4}"/>
              </a:ext>
            </a:extLst>
          </p:cNvPr>
          <p:cNvSpPr txBox="1"/>
          <p:nvPr/>
        </p:nvSpPr>
        <p:spPr>
          <a:xfrm>
            <a:off x="5080339" y="5262956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新宿に治安の</a:t>
            </a:r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不安があるか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1C5483F-7219-9761-FEF6-E5AD659FFCAF}"/>
              </a:ext>
            </a:extLst>
          </p:cNvPr>
          <p:cNvSpPr txBox="1"/>
          <p:nvPr/>
        </p:nvSpPr>
        <p:spPr>
          <a:xfrm>
            <a:off x="8490791" y="5200623"/>
            <a:ext cx="29546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今回のような企画</a:t>
            </a:r>
            <a:endParaRPr kumimoji="1" lang="en-US" altLang="ja-JP" sz="24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24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があれば利用するか</a:t>
            </a:r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75F01FA9-643A-C9E7-8FD0-8CBE520CE548}"/>
              </a:ext>
            </a:extLst>
          </p:cNvPr>
          <p:cNvCxnSpPr>
            <a:cxnSpLocks/>
          </p:cNvCxnSpPr>
          <p:nvPr/>
        </p:nvCxnSpPr>
        <p:spPr>
          <a:xfrm>
            <a:off x="1066800" y="3014133"/>
            <a:ext cx="677333" cy="669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0636999F-383C-3602-6BD7-E164B3811D92}"/>
              </a:ext>
            </a:extLst>
          </p:cNvPr>
          <p:cNvSpPr txBox="1"/>
          <p:nvPr/>
        </p:nvSpPr>
        <p:spPr>
          <a:xfrm>
            <a:off x="676258" y="270607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/>
              <a:t>はい</a:t>
            </a:r>
            <a:endParaRPr kumimoji="1" lang="ja-JP" altLang="en-US" b="1" dirty="0"/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94E745EF-8CEF-6E07-52CC-7DA51121498A}"/>
              </a:ext>
            </a:extLst>
          </p:cNvPr>
          <p:cNvCxnSpPr>
            <a:cxnSpLocks/>
          </p:cNvCxnSpPr>
          <p:nvPr/>
        </p:nvCxnSpPr>
        <p:spPr>
          <a:xfrm flipH="1">
            <a:off x="2730553" y="2706078"/>
            <a:ext cx="308980" cy="6723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B6B5C66-9003-39AE-75E6-207B3CEC8B41}"/>
              </a:ext>
            </a:extLst>
          </p:cNvPr>
          <p:cNvSpPr txBox="1"/>
          <p:nvPr/>
        </p:nvSpPr>
        <p:spPr>
          <a:xfrm>
            <a:off x="2716367" y="228211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/>
              <a:t>い</a:t>
            </a:r>
            <a:r>
              <a:rPr lang="ja-JP" altLang="en-US" sz="2000" b="1" dirty="0"/>
              <a:t>い</a:t>
            </a:r>
            <a:r>
              <a:rPr kumimoji="1" lang="ja-JP" altLang="en-US" sz="2000" b="1" dirty="0"/>
              <a:t>え</a:t>
            </a:r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CC7F8C29-AB10-D4D1-FB18-697CF3B551DE}"/>
              </a:ext>
            </a:extLst>
          </p:cNvPr>
          <p:cNvCxnSpPr>
            <a:cxnSpLocks/>
          </p:cNvCxnSpPr>
          <p:nvPr/>
        </p:nvCxnSpPr>
        <p:spPr>
          <a:xfrm flipH="1">
            <a:off x="6464353" y="2706077"/>
            <a:ext cx="308980" cy="6723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4DF33454-7E38-ECA0-64FE-1D6255ACB768}"/>
              </a:ext>
            </a:extLst>
          </p:cNvPr>
          <p:cNvCxnSpPr>
            <a:cxnSpLocks/>
          </p:cNvCxnSpPr>
          <p:nvPr/>
        </p:nvCxnSpPr>
        <p:spPr>
          <a:xfrm>
            <a:off x="4964279" y="3106188"/>
            <a:ext cx="420522" cy="4722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35C17B5-0997-B991-EBFE-1426A25F8C79}"/>
              </a:ext>
            </a:extLst>
          </p:cNvPr>
          <p:cNvSpPr txBox="1"/>
          <p:nvPr/>
        </p:nvSpPr>
        <p:spPr>
          <a:xfrm>
            <a:off x="4615465" y="2706078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/>
              <a:t>はい</a:t>
            </a:r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29EBB73F-3FE0-5C4E-B247-D7E548E6D1D3}"/>
              </a:ext>
            </a:extLst>
          </p:cNvPr>
          <p:cNvCxnSpPr>
            <a:cxnSpLocks/>
          </p:cNvCxnSpPr>
          <p:nvPr/>
        </p:nvCxnSpPr>
        <p:spPr>
          <a:xfrm>
            <a:off x="9027443" y="2885518"/>
            <a:ext cx="677333" cy="669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D2E4085A-0E76-F584-0272-C4DB99D743B1}"/>
              </a:ext>
            </a:extLst>
          </p:cNvPr>
          <p:cNvCxnSpPr>
            <a:cxnSpLocks/>
          </p:cNvCxnSpPr>
          <p:nvPr/>
        </p:nvCxnSpPr>
        <p:spPr>
          <a:xfrm flipH="1">
            <a:off x="10375802" y="2669991"/>
            <a:ext cx="308980" cy="6723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94D73F76-A943-49DE-C6A8-0ED2BB9868C6}"/>
              </a:ext>
            </a:extLst>
          </p:cNvPr>
          <p:cNvSpPr txBox="1"/>
          <p:nvPr/>
        </p:nvSpPr>
        <p:spPr>
          <a:xfrm>
            <a:off x="6347953" y="235065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/>
              <a:t>いいえ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25B24BE-9CEF-5CED-9CB6-CAB35E582500}"/>
              </a:ext>
            </a:extLst>
          </p:cNvPr>
          <p:cNvSpPr txBox="1"/>
          <p:nvPr/>
        </p:nvSpPr>
        <p:spPr>
          <a:xfrm>
            <a:off x="8678629" y="2530906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/>
              <a:t>はい</a:t>
            </a:r>
            <a:endParaRPr kumimoji="1" lang="ja-JP" altLang="en-US" b="1" dirty="0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3A318FB2-253B-93A5-0F3E-9443A5F9F17E}"/>
              </a:ext>
            </a:extLst>
          </p:cNvPr>
          <p:cNvSpPr txBox="1"/>
          <p:nvPr/>
        </p:nvSpPr>
        <p:spPr>
          <a:xfrm>
            <a:off x="10207728" y="226988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/>
              <a:t>い</a:t>
            </a:r>
            <a:r>
              <a:rPr lang="ja-JP" altLang="en-US" sz="2000" b="1" dirty="0"/>
              <a:t>い</a:t>
            </a:r>
            <a:r>
              <a:rPr kumimoji="1" lang="ja-JP" altLang="en-US" sz="2000" b="1" dirty="0"/>
              <a:t>え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08A83D19-0274-FB31-39B5-3CC504FE7F2C}"/>
              </a:ext>
            </a:extLst>
          </p:cNvPr>
          <p:cNvSpPr txBox="1"/>
          <p:nvPr/>
        </p:nvSpPr>
        <p:spPr>
          <a:xfrm>
            <a:off x="1187909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4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42552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CCECAC-C125-4072-B8E2-42C9420D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40" y="280014"/>
            <a:ext cx="10515600" cy="1325563"/>
          </a:xfrm>
        </p:spPr>
        <p:txBody>
          <a:bodyPr>
            <a:normAutofit/>
          </a:bodyPr>
          <a:lstStyle/>
          <a:p>
            <a:r>
              <a:rPr lang="ja-JP" altLang="en-US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体験の設計</a:t>
            </a:r>
            <a:endParaRPr kumimoji="1" lang="ja-JP" altLang="en-US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78DA72A4-A57D-4D36-B555-D2AE589A35ED}"/>
              </a:ext>
            </a:extLst>
          </p:cNvPr>
          <p:cNvCxnSpPr>
            <a:cxnSpLocks/>
          </p:cNvCxnSpPr>
          <p:nvPr/>
        </p:nvCxnSpPr>
        <p:spPr>
          <a:xfrm flipV="1">
            <a:off x="81374" y="4338024"/>
            <a:ext cx="11805736" cy="464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3FB7224-9964-4FCB-A149-DA9C93A1FBC6}"/>
              </a:ext>
            </a:extLst>
          </p:cNvPr>
          <p:cNvSpPr/>
          <p:nvPr/>
        </p:nvSpPr>
        <p:spPr>
          <a:xfrm>
            <a:off x="737497" y="2181105"/>
            <a:ext cx="504817" cy="195259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8">
              <a:defRPr/>
            </a:pPr>
            <a:r>
              <a:rPr lang="ja-JP" altLang="en-US" sz="2400" dirty="0">
                <a:solidFill>
                  <a:schemeClr val="tx1"/>
                </a:solidFill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ポジティブ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52F49FA5-1D00-46E4-B63D-2BF7D9F0AC80}"/>
              </a:ext>
            </a:extLst>
          </p:cNvPr>
          <p:cNvSpPr/>
          <p:nvPr/>
        </p:nvSpPr>
        <p:spPr>
          <a:xfrm>
            <a:off x="737497" y="4809648"/>
            <a:ext cx="504817" cy="195259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8">
              <a:defRPr/>
            </a:pPr>
            <a:r>
              <a:rPr lang="ja-JP" altLang="en-US" sz="2400" dirty="0">
                <a:solidFill>
                  <a:schemeClr val="tx1"/>
                </a:solidFill>
                <a:latin typeface="Noto Sans JP DemiLight" panose="020B0200000000000000" pitchFamily="50" charset="-128"/>
                <a:ea typeface="Noto Sans JP DemiLight" panose="020B0200000000000000" pitchFamily="50" charset="-128"/>
              </a:rPr>
              <a:t>ネガティブ</a:t>
            </a:r>
          </a:p>
        </p:txBody>
      </p:sp>
      <p:sp>
        <p:nvSpPr>
          <p:cNvPr id="6" name="四角形: メモ 5">
            <a:extLst>
              <a:ext uri="{FF2B5EF4-FFF2-40B4-BE49-F238E27FC236}">
                <a16:creationId xmlns:a16="http://schemas.microsoft.com/office/drawing/2014/main" id="{272A411E-E143-4F91-80DD-3E2B40406BEF}"/>
              </a:ext>
            </a:extLst>
          </p:cNvPr>
          <p:cNvSpPr/>
          <p:nvPr/>
        </p:nvSpPr>
        <p:spPr>
          <a:xfrm>
            <a:off x="1615356" y="2962467"/>
            <a:ext cx="1582785" cy="1187964"/>
          </a:xfrm>
          <a:prstGeom prst="foldedCorner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8">
              <a:defRPr/>
            </a:pPr>
            <a:r>
              <a:rPr lang="ja-JP" altLang="en-US" sz="2568" b="1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新宿駅</a:t>
            </a:r>
            <a:endParaRPr lang="en-US" altLang="ja-JP" sz="2568" b="1" dirty="0">
              <a:solidFill>
                <a:schemeClr val="tx1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 defTabSz="914408">
              <a:defRPr/>
            </a:pPr>
            <a:r>
              <a:rPr lang="ja-JP" altLang="en-US" sz="2568" b="1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に来る</a:t>
            </a:r>
          </a:p>
        </p:txBody>
      </p:sp>
      <p:sp>
        <p:nvSpPr>
          <p:cNvPr id="7" name="四角形: メモ 6">
            <a:extLst>
              <a:ext uri="{FF2B5EF4-FFF2-40B4-BE49-F238E27FC236}">
                <a16:creationId xmlns:a16="http://schemas.microsoft.com/office/drawing/2014/main" id="{09E5E48B-C3BB-44BE-9F74-9F2A96414227}"/>
              </a:ext>
            </a:extLst>
          </p:cNvPr>
          <p:cNvSpPr/>
          <p:nvPr/>
        </p:nvSpPr>
        <p:spPr>
          <a:xfrm>
            <a:off x="3618887" y="3853719"/>
            <a:ext cx="1273969" cy="1061456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8">
              <a:defRPr/>
            </a:pPr>
            <a:r>
              <a:rPr lang="ja-JP" altLang="en-US" sz="2400" b="1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新宿駅</a:t>
            </a:r>
            <a:endParaRPr lang="en-US" altLang="ja-JP" sz="2400" b="1" dirty="0">
              <a:solidFill>
                <a:schemeClr val="tx1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 defTabSz="914408">
              <a:defRPr/>
            </a:pPr>
            <a:r>
              <a:rPr lang="ja-JP" altLang="en-US" sz="2400" b="1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で待つ</a:t>
            </a:r>
          </a:p>
        </p:txBody>
      </p:sp>
      <p:sp>
        <p:nvSpPr>
          <p:cNvPr id="8" name="四角形: メモ 7">
            <a:extLst>
              <a:ext uri="{FF2B5EF4-FFF2-40B4-BE49-F238E27FC236}">
                <a16:creationId xmlns:a16="http://schemas.microsoft.com/office/drawing/2014/main" id="{7330C523-BD5F-4CD5-8CC9-8859275D5A2F}"/>
              </a:ext>
            </a:extLst>
          </p:cNvPr>
          <p:cNvSpPr/>
          <p:nvPr/>
        </p:nvSpPr>
        <p:spPr>
          <a:xfrm>
            <a:off x="5667233" y="3970448"/>
            <a:ext cx="1815434" cy="796793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8">
              <a:defRPr/>
            </a:pPr>
            <a:r>
              <a:rPr lang="ja-JP" altLang="en-US" sz="2400" b="1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広告を見る</a:t>
            </a:r>
          </a:p>
        </p:txBody>
      </p:sp>
      <p:sp>
        <p:nvSpPr>
          <p:cNvPr id="9" name="四角形: メモ 8">
            <a:extLst>
              <a:ext uri="{FF2B5EF4-FFF2-40B4-BE49-F238E27FC236}">
                <a16:creationId xmlns:a16="http://schemas.microsoft.com/office/drawing/2014/main" id="{5A8F37C0-DD55-4FFA-8095-27B5434D8AE8}"/>
              </a:ext>
            </a:extLst>
          </p:cNvPr>
          <p:cNvSpPr/>
          <p:nvPr/>
        </p:nvSpPr>
        <p:spPr>
          <a:xfrm>
            <a:off x="7865170" y="4833356"/>
            <a:ext cx="1502743" cy="1205754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8">
              <a:defRPr/>
            </a:pPr>
            <a:r>
              <a:rPr lang="ja-JP" altLang="en-US" sz="2400" b="1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広告に</a:t>
            </a:r>
            <a:endParaRPr lang="en-US" altLang="ja-JP" sz="2400" b="1" dirty="0">
              <a:solidFill>
                <a:schemeClr val="tx1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 defTabSz="914408">
              <a:defRPr/>
            </a:pPr>
            <a:r>
              <a:rPr lang="ja-JP" altLang="en-US" sz="2400" b="1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参加する</a:t>
            </a:r>
          </a:p>
        </p:txBody>
      </p:sp>
      <p:sp>
        <p:nvSpPr>
          <p:cNvPr id="10" name="四角形: メモ 9">
            <a:extLst>
              <a:ext uri="{FF2B5EF4-FFF2-40B4-BE49-F238E27FC236}">
                <a16:creationId xmlns:a16="http://schemas.microsoft.com/office/drawing/2014/main" id="{C7776DD6-3420-4A83-AFAE-A6618BC22F5F}"/>
              </a:ext>
            </a:extLst>
          </p:cNvPr>
          <p:cNvSpPr/>
          <p:nvPr/>
        </p:nvSpPr>
        <p:spPr>
          <a:xfrm>
            <a:off x="10277016" y="4908527"/>
            <a:ext cx="1502743" cy="1055411"/>
          </a:xfrm>
          <a:prstGeom prst="foldedCorner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8">
              <a:defRPr/>
            </a:pPr>
            <a:r>
              <a:rPr lang="ja-JP" altLang="en-US" sz="2400" b="1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新宿を</a:t>
            </a:r>
            <a:endParaRPr lang="en-US" altLang="ja-JP" sz="2400" b="1" dirty="0">
              <a:solidFill>
                <a:schemeClr val="tx1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 defTabSz="914408">
              <a:defRPr/>
            </a:pPr>
            <a:r>
              <a:rPr lang="ja-JP" altLang="en-US" sz="2400" b="1" dirty="0">
                <a:solidFill>
                  <a:schemeClr val="tx1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移動する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73671C17-C2B8-4708-B09B-70A04C2268A6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198141" y="3556449"/>
            <a:ext cx="420746" cy="827998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0DCA7D40-D42F-441A-9007-5AA172813025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4892856" y="4368845"/>
            <a:ext cx="774377" cy="15602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50710029-8E5F-43B5-BCB6-396FC9708931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7482667" y="4368845"/>
            <a:ext cx="382503" cy="1067388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D8A7952B-DFA7-4646-9A02-E618C7FC5C14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9367913" y="5436233"/>
            <a:ext cx="909103" cy="0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日付プレースホルダー 3">
            <a:extLst>
              <a:ext uri="{FF2B5EF4-FFF2-40B4-BE49-F238E27FC236}">
                <a16:creationId xmlns:a16="http://schemas.microsoft.com/office/drawing/2014/main" id="{9AE64929-8F7F-4B72-845B-231CF815E5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945" y="6801888"/>
            <a:ext cx="2935457" cy="390715"/>
          </a:xfrm>
          <a:prstGeom prst="rect">
            <a:avLst/>
          </a:prstGeom>
        </p:spPr>
        <p:txBody>
          <a:bodyPr vert="horz" lIns="97849" tIns="48924" rIns="97849" bIns="48924" rtlCol="0" anchor="ctr"/>
          <a:lstStyle>
            <a:defPPr>
              <a:defRPr lang="ja-JP"/>
            </a:defPPr>
            <a:lvl1pPr marL="0" algn="l" defTabSz="978499" rtl="0" eaLnBrk="1" latinLnBrk="0" hangingPunct="1">
              <a:defRPr kumimoji="1" sz="128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89250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99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49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6999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6249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5498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4748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3998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8">
              <a:defRPr/>
            </a:pPr>
            <a:endParaRPr lang="ja-JP" altLang="en-US" sz="1200" dirty="0">
              <a:solidFill>
                <a:srgbClr val="553321">
                  <a:tint val="75000"/>
                </a:srgbClr>
              </a:solidFill>
              <a:latin typeface="Century Gothic"/>
              <a:ea typeface="BIZ UDPゴシック"/>
            </a:endParaRPr>
          </a:p>
        </p:txBody>
      </p:sp>
      <p:sp>
        <p:nvSpPr>
          <p:cNvPr id="21" name="フッター プレースホルダー 4">
            <a:extLst>
              <a:ext uri="{FF2B5EF4-FFF2-40B4-BE49-F238E27FC236}">
                <a16:creationId xmlns:a16="http://schemas.microsoft.com/office/drawing/2014/main" id="{3E9B69C3-D6BE-48EC-906E-3D68C924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1645" y="6801888"/>
            <a:ext cx="4403186" cy="390715"/>
          </a:xfrm>
          <a:prstGeom prst="rect">
            <a:avLst/>
          </a:prstGeom>
        </p:spPr>
        <p:txBody>
          <a:bodyPr vert="horz" lIns="97849" tIns="48924" rIns="97849" bIns="48924" rtlCol="0" anchor="ctr"/>
          <a:lstStyle>
            <a:defPPr>
              <a:defRPr lang="ja-JP"/>
            </a:defPPr>
            <a:lvl1pPr marL="0" algn="ctr" defTabSz="978499" rtl="0" eaLnBrk="1" latinLnBrk="0" hangingPunct="1">
              <a:defRPr kumimoji="1" sz="128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89250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99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49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6999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6249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5498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4748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3998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8">
              <a:defRPr/>
            </a:pPr>
            <a:r>
              <a:rPr lang="ja-JP" altLang="en-US"/>
              <a:t>（</a:t>
            </a:r>
            <a:r>
              <a:rPr lang="en-US" altLang="ja-JP"/>
              <a:t>C</a:t>
            </a:r>
            <a:r>
              <a:rPr lang="ja-JP" altLang="en-US"/>
              <a:t>）　</a:t>
            </a:r>
            <a:r>
              <a:rPr lang="en-US" altLang="ja-JP"/>
              <a:t>Iconic Beat Corp.</a:t>
            </a:r>
            <a:endParaRPr lang="ja-JP" altLang="en-US" sz="1200">
              <a:solidFill>
                <a:srgbClr val="553321">
                  <a:tint val="75000"/>
                </a:srgbClr>
              </a:solidFill>
              <a:latin typeface="Century Gothic"/>
              <a:ea typeface="BIZ UDPゴシック"/>
            </a:endParaRPr>
          </a:p>
        </p:txBody>
      </p:sp>
      <p:sp>
        <p:nvSpPr>
          <p:cNvPr id="22" name="スライド番号プレースホルダー 5">
            <a:extLst>
              <a:ext uri="{FF2B5EF4-FFF2-40B4-BE49-F238E27FC236}">
                <a16:creationId xmlns:a16="http://schemas.microsoft.com/office/drawing/2014/main" id="{46957C66-F350-4BB9-B125-122CCADC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14074" y="6801888"/>
            <a:ext cx="2935457" cy="390715"/>
          </a:xfrm>
          <a:prstGeom prst="rect">
            <a:avLst/>
          </a:prstGeom>
        </p:spPr>
        <p:txBody>
          <a:bodyPr vert="horz" lIns="97849" tIns="48924" rIns="97849" bIns="48924" rtlCol="0" anchor="ctr"/>
          <a:lstStyle>
            <a:defPPr>
              <a:defRPr lang="ja-JP"/>
            </a:defPPr>
            <a:lvl1pPr marL="0" algn="r" defTabSz="978499" rtl="0" eaLnBrk="1" latinLnBrk="0" hangingPunct="1">
              <a:defRPr kumimoji="1" sz="1284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89250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8499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7749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6999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6249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5498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4748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13998" algn="l" defTabSz="978499" rtl="0" eaLnBrk="1" latinLnBrk="0" hangingPunct="1">
              <a:defRPr kumimoji="1" sz="192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8">
              <a:defRPr/>
            </a:pPr>
            <a:fld id="{9A35B766-4E52-4797-9EDA-51E8AF561541}" type="slidenum">
              <a:rPr lang="ja-JP" altLang="en-US" smtClean="0"/>
              <a:pPr defTabSz="914408">
                <a:defRPr/>
              </a:pPr>
              <a:t>5</a:t>
            </a:fld>
            <a:endParaRPr lang="ja-JP" altLang="en-US" sz="1200">
              <a:solidFill>
                <a:srgbClr val="553321">
                  <a:tint val="75000"/>
                </a:srgbClr>
              </a:solidFill>
              <a:latin typeface="Century Gothic"/>
              <a:ea typeface="BIZ UDPゴシック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2C512B8-0642-204C-8E9B-FF4E87201DF3}"/>
              </a:ext>
            </a:extLst>
          </p:cNvPr>
          <p:cNvSpPr/>
          <p:nvPr/>
        </p:nvSpPr>
        <p:spPr>
          <a:xfrm>
            <a:off x="244621" y="441058"/>
            <a:ext cx="45719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四角形: メモ 44">
            <a:extLst>
              <a:ext uri="{FF2B5EF4-FFF2-40B4-BE49-F238E27FC236}">
                <a16:creationId xmlns:a16="http://schemas.microsoft.com/office/drawing/2014/main" id="{615FDBF4-5955-FC9D-C0EB-4E750A558672}"/>
              </a:ext>
            </a:extLst>
          </p:cNvPr>
          <p:cNvSpPr/>
          <p:nvPr/>
        </p:nvSpPr>
        <p:spPr>
          <a:xfrm>
            <a:off x="7798962" y="2334858"/>
            <a:ext cx="1851738" cy="1205754"/>
          </a:xfrm>
          <a:prstGeom prst="foldedCorner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8">
              <a:defRPr/>
            </a:pPr>
            <a:r>
              <a:rPr lang="ja-JP" altLang="en-US" sz="2400" b="1" dirty="0">
                <a:solidFill>
                  <a:srgbClr val="C0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参加したい広告にする</a:t>
            </a:r>
          </a:p>
        </p:txBody>
      </p:sp>
      <p:sp>
        <p:nvSpPr>
          <p:cNvPr id="46" name="四角形: メモ 45">
            <a:extLst>
              <a:ext uri="{FF2B5EF4-FFF2-40B4-BE49-F238E27FC236}">
                <a16:creationId xmlns:a16="http://schemas.microsoft.com/office/drawing/2014/main" id="{4777F5C7-CBE7-A0F2-33CD-047F1B4DDF90}"/>
              </a:ext>
            </a:extLst>
          </p:cNvPr>
          <p:cNvSpPr/>
          <p:nvPr/>
        </p:nvSpPr>
        <p:spPr>
          <a:xfrm>
            <a:off x="10102908" y="2271086"/>
            <a:ext cx="1502743" cy="1366793"/>
          </a:xfrm>
          <a:prstGeom prst="foldedCorner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914408">
              <a:defRPr/>
            </a:pPr>
            <a:r>
              <a:rPr lang="ja-JP" altLang="en-US" sz="2400" b="1" dirty="0">
                <a:solidFill>
                  <a:srgbClr val="C0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不安なく新宿を</a:t>
            </a:r>
            <a:endParaRPr lang="en-US" altLang="ja-JP" sz="2400" b="1" dirty="0">
              <a:solidFill>
                <a:srgbClr val="C00000"/>
              </a:soli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  <a:p>
            <a:pPr algn="ctr" defTabSz="914408">
              <a:defRPr/>
            </a:pPr>
            <a:r>
              <a:rPr lang="ja-JP" altLang="en-US" sz="2400" b="1" dirty="0">
                <a:solidFill>
                  <a:srgbClr val="C00000"/>
                </a:soli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移動する</a:t>
            </a:r>
          </a:p>
        </p:txBody>
      </p: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457F519B-A3FE-8E2E-3271-6AD2843BEED8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7478866" y="2937735"/>
            <a:ext cx="320096" cy="1400289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813288BB-442E-575D-3D23-62C11F81F9F4}"/>
              </a:ext>
            </a:extLst>
          </p:cNvPr>
          <p:cNvCxnSpPr>
            <a:cxnSpLocks/>
          </p:cNvCxnSpPr>
          <p:nvPr/>
        </p:nvCxnSpPr>
        <p:spPr>
          <a:xfrm>
            <a:off x="9650700" y="2973151"/>
            <a:ext cx="452208" cy="24732"/>
          </a:xfrm>
          <a:prstGeom prst="straightConnector1">
            <a:avLst/>
          </a:prstGeom>
          <a:ln w="28575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F2643984-DA12-F88F-63B0-B7AE5062910D}"/>
              </a:ext>
            </a:extLst>
          </p:cNvPr>
          <p:cNvSpPr txBox="1"/>
          <p:nvPr/>
        </p:nvSpPr>
        <p:spPr>
          <a:xfrm>
            <a:off x="1187909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5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74878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45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A7618-BA3B-ECE8-D285-2B2EFD134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ABCC6B-A72F-8E0C-54B5-438092E79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992" y="336238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Concept Prototype</a:t>
            </a:r>
            <a:endParaRPr kumimoji="1" lang="ja-JP" altLang="en-US" b="1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4C1E7FC-539C-114C-986E-64534C337DAC}"/>
              </a:ext>
            </a:extLst>
          </p:cNvPr>
          <p:cNvSpPr/>
          <p:nvPr/>
        </p:nvSpPr>
        <p:spPr>
          <a:xfrm>
            <a:off x="244621" y="441058"/>
            <a:ext cx="45719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1945E86-172B-336E-7261-60E6F3D58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896" y="1437901"/>
            <a:ext cx="7625791" cy="5083861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21DE543-DB2C-7BEE-2B94-7594B5DD4A2E}"/>
              </a:ext>
            </a:extLst>
          </p:cNvPr>
          <p:cNvSpPr txBox="1"/>
          <p:nvPr/>
        </p:nvSpPr>
        <p:spPr>
          <a:xfrm>
            <a:off x="1187909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6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399035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36B5F-F139-5C00-47FC-D0175D8EC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BC89EB-BFD1-EE7B-DAEA-80FD1E353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992" y="336238"/>
            <a:ext cx="10515600" cy="1325563"/>
          </a:xfrm>
        </p:spPr>
        <p:txBody>
          <a:bodyPr/>
          <a:lstStyle/>
          <a:p>
            <a:r>
              <a:rPr lang="en-US" altLang="ja-JP" b="1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Sample Video</a:t>
            </a:r>
            <a:endParaRPr kumimoji="1" lang="ja-JP" altLang="en-US" b="1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676EB57-B0DB-8182-08FF-25507D4A5AA6}"/>
              </a:ext>
            </a:extLst>
          </p:cNvPr>
          <p:cNvSpPr/>
          <p:nvPr/>
        </p:nvSpPr>
        <p:spPr>
          <a:xfrm>
            <a:off x="244621" y="441058"/>
            <a:ext cx="45719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F67657C-B4C4-6BFC-CF4A-112149C49A47}"/>
              </a:ext>
            </a:extLst>
          </p:cNvPr>
          <p:cNvSpPr txBox="1"/>
          <p:nvPr/>
        </p:nvSpPr>
        <p:spPr>
          <a:xfrm>
            <a:off x="1187909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7</a:t>
            </a:r>
            <a:endParaRPr kumimoji="1" lang="en-US" altLang="ja-JP" dirty="0"/>
          </a:p>
        </p:txBody>
      </p:sp>
      <p:pic>
        <p:nvPicPr>
          <p:cNvPr id="4" name="コンポ 1_2">
            <a:hlinkClick r:id="" action="ppaction://media"/>
            <a:extLst>
              <a:ext uri="{FF2B5EF4-FFF2-40B4-BE49-F238E27FC236}">
                <a16:creationId xmlns:a16="http://schemas.microsoft.com/office/drawing/2014/main" id="{561EDE56-E49F-627A-243D-A7819A334A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52808" y="1661801"/>
            <a:ext cx="8286383" cy="466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4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FC4F-B886-A737-4C11-8F17339CA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88EC6A-654A-CB47-547D-C128CC75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992" y="336238"/>
            <a:ext cx="10515600" cy="1325563"/>
          </a:xfrm>
        </p:spPr>
        <p:txBody>
          <a:bodyPr/>
          <a:lstStyle/>
          <a:p>
            <a:r>
              <a:rPr lang="ja-JP" altLang="en-US" b="1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次の課題</a:t>
            </a:r>
            <a:endParaRPr kumimoji="1" lang="ja-JP" altLang="en-US" b="1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D23C656-D6CF-FC21-2A9B-3C92D8F4819B}"/>
              </a:ext>
            </a:extLst>
          </p:cNvPr>
          <p:cNvSpPr/>
          <p:nvPr/>
        </p:nvSpPr>
        <p:spPr>
          <a:xfrm>
            <a:off x="244621" y="441058"/>
            <a:ext cx="45719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322CB94-933C-402D-AD09-A87DE28DF7AF}"/>
              </a:ext>
            </a:extLst>
          </p:cNvPr>
          <p:cNvSpPr/>
          <p:nvPr/>
        </p:nvSpPr>
        <p:spPr>
          <a:xfrm>
            <a:off x="545162" y="1908580"/>
            <a:ext cx="3382294" cy="41853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>
                <a:solidFill>
                  <a:schemeClr val="tx1"/>
                </a:solidFill>
              </a:rPr>
              <a:t>プロトタイプの作成</a:t>
            </a:r>
            <a:endParaRPr kumimoji="1" lang="en-US" altLang="ja-JP" sz="2400" b="1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/>
              <a:t>to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252AA83-00F8-14C8-7F87-19A5A17B598A}"/>
              </a:ext>
            </a:extLst>
          </p:cNvPr>
          <p:cNvSpPr/>
          <p:nvPr/>
        </p:nvSpPr>
        <p:spPr>
          <a:xfrm>
            <a:off x="4404852" y="1908580"/>
            <a:ext cx="3382294" cy="41853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1"/>
                </a:solidFill>
              </a:rPr>
              <a:t>ビジネスプランの確定</a:t>
            </a:r>
          </a:p>
          <a:p>
            <a:pPr algn="ctr"/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CCE96BF-6814-2AB7-D41A-5E27805802FB}"/>
              </a:ext>
            </a:extLst>
          </p:cNvPr>
          <p:cNvSpPr/>
          <p:nvPr/>
        </p:nvSpPr>
        <p:spPr>
          <a:xfrm>
            <a:off x="8244072" y="1908580"/>
            <a:ext cx="3382294" cy="41853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 b="1" dirty="0">
              <a:solidFill>
                <a:schemeClr val="tx1"/>
              </a:solidFill>
            </a:endParaRPr>
          </a:p>
        </p:txBody>
      </p:sp>
      <p:pic>
        <p:nvPicPr>
          <p:cNvPr id="7" name="グラフィックス 6" descr="レンチ 単色塗りつぶし">
            <a:extLst>
              <a:ext uri="{FF2B5EF4-FFF2-40B4-BE49-F238E27FC236}">
                <a16:creationId xmlns:a16="http://schemas.microsoft.com/office/drawing/2014/main" id="{43509C62-CCEA-D0D3-4C30-15E1F8B056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8336" y="2293077"/>
            <a:ext cx="1027634" cy="1027634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878B877-E11C-776E-208E-4AAE147C24A9}"/>
              </a:ext>
            </a:extLst>
          </p:cNvPr>
          <p:cNvCxnSpPr>
            <a:cxnSpLocks/>
          </p:cNvCxnSpPr>
          <p:nvPr/>
        </p:nvCxnSpPr>
        <p:spPr>
          <a:xfrm>
            <a:off x="834620" y="4091677"/>
            <a:ext cx="28598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A98884F-1B07-5812-3AF4-B8C434424EA9}"/>
              </a:ext>
            </a:extLst>
          </p:cNvPr>
          <p:cNvSpPr txBox="1"/>
          <p:nvPr/>
        </p:nvSpPr>
        <p:spPr>
          <a:xfrm>
            <a:off x="1274505" y="4460578"/>
            <a:ext cx="1980029" cy="9716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映像の制作</a:t>
            </a:r>
            <a:endParaRPr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>
              <a:lnSpc>
                <a:spcPct val="150000"/>
              </a:lnSpc>
            </a:pPr>
            <a:r>
              <a:rPr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システムの融合</a:t>
            </a:r>
            <a:endParaRPr kumimoji="1" lang="ja-JP" altLang="en-US" sz="16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18" name="グラフィックス 17" descr="硬貨 単色塗りつぶし">
            <a:extLst>
              <a:ext uri="{FF2B5EF4-FFF2-40B4-BE49-F238E27FC236}">
                <a16:creationId xmlns:a16="http://schemas.microsoft.com/office/drawing/2014/main" id="{3F38EB14-24DB-A8F4-D3BF-49E0A5D165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3960" y="2293077"/>
            <a:ext cx="1124079" cy="1124079"/>
          </a:xfrm>
          <a:prstGeom prst="rect">
            <a:avLst/>
          </a:prstGeom>
        </p:spPr>
      </p:pic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27C06F2B-CB6D-4F5F-FDFA-C33B8A710643}"/>
              </a:ext>
            </a:extLst>
          </p:cNvPr>
          <p:cNvCxnSpPr>
            <a:cxnSpLocks/>
          </p:cNvCxnSpPr>
          <p:nvPr/>
        </p:nvCxnSpPr>
        <p:spPr>
          <a:xfrm>
            <a:off x="4583250" y="4091677"/>
            <a:ext cx="30254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D47884D-BE7D-F17D-D996-B2A270666253}"/>
              </a:ext>
            </a:extLst>
          </p:cNvPr>
          <p:cNvSpPr txBox="1"/>
          <p:nvPr/>
        </p:nvSpPr>
        <p:spPr>
          <a:xfrm>
            <a:off x="4849504" y="4444301"/>
            <a:ext cx="24929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協賛企業からの</a:t>
            </a:r>
            <a:endParaRPr kumimoji="1"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寄付の仕組みの調査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167F93A-7773-C3F4-A45C-D97424DD96F5}"/>
              </a:ext>
            </a:extLst>
          </p:cNvPr>
          <p:cNvSpPr txBox="1"/>
          <p:nvPr/>
        </p:nvSpPr>
        <p:spPr>
          <a:xfrm>
            <a:off x="5134935" y="5278211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制作予算の概算</a:t>
            </a:r>
            <a:endParaRPr kumimoji="1"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</p:txBody>
      </p:sp>
      <p:pic>
        <p:nvPicPr>
          <p:cNvPr id="28" name="グラフィックス 27" descr="男性 単色塗りつぶし">
            <a:extLst>
              <a:ext uri="{FF2B5EF4-FFF2-40B4-BE49-F238E27FC236}">
                <a16:creationId xmlns:a16="http://schemas.microsoft.com/office/drawing/2014/main" id="{F530B9E2-CCA9-2480-3A65-D12222FCAD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25167" y="2236904"/>
            <a:ext cx="1061045" cy="1061045"/>
          </a:xfrm>
          <a:prstGeom prst="rect">
            <a:avLst/>
          </a:prstGeom>
        </p:spPr>
      </p:pic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29EB198C-A73E-C781-BD4C-05A3CBAF3E67}"/>
              </a:ext>
            </a:extLst>
          </p:cNvPr>
          <p:cNvCxnSpPr>
            <a:cxnSpLocks/>
          </p:cNvCxnSpPr>
          <p:nvPr/>
        </p:nvCxnSpPr>
        <p:spPr>
          <a:xfrm>
            <a:off x="8442941" y="4071622"/>
            <a:ext cx="302549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E44D6A1-A1AF-87E9-A840-D8327F913762}"/>
              </a:ext>
            </a:extLst>
          </p:cNvPr>
          <p:cNvSpPr txBox="1"/>
          <p:nvPr/>
        </p:nvSpPr>
        <p:spPr>
          <a:xfrm>
            <a:off x="8786139" y="3297949"/>
            <a:ext cx="233910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2400" b="1" dirty="0"/>
              <a:t>欲求に基づいた</a:t>
            </a:r>
            <a:endParaRPr lang="en-US" altLang="ja-JP" sz="2400" b="1" dirty="0"/>
          </a:p>
          <a:p>
            <a:pPr algn="ctr"/>
            <a:r>
              <a:rPr lang="ja-JP" altLang="en-US" sz="2400" b="1" dirty="0"/>
              <a:t>企画の改善</a:t>
            </a:r>
          </a:p>
          <a:p>
            <a:endParaRPr kumimoji="1"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CD54B85-F105-9D92-A543-2A8053E7FFC6}"/>
              </a:ext>
            </a:extLst>
          </p:cNvPr>
          <p:cNvSpPr txBox="1"/>
          <p:nvPr/>
        </p:nvSpPr>
        <p:spPr>
          <a:xfrm>
            <a:off x="8517229" y="4644355"/>
            <a:ext cx="300595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ターゲットの初期層</a:t>
            </a:r>
            <a:endParaRPr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の抱える課題の解像度を</a:t>
            </a:r>
            <a:endParaRPr kumimoji="1" lang="en-US" altLang="ja-JP" sz="2000" dirty="0">
              <a:latin typeface="Noto Sans JP" panose="020B0200000000000000" pitchFamily="50" charset="-128"/>
              <a:ea typeface="Noto Sans JP" panose="020B0200000000000000" pitchFamily="50" charset="-128"/>
            </a:endParaRPr>
          </a:p>
          <a:p>
            <a:pPr algn="ctr"/>
            <a:r>
              <a:rPr kumimoji="1" lang="ja-JP" altLang="en-US" sz="2000" dirty="0">
                <a:latin typeface="Noto Sans JP" panose="020B0200000000000000" pitchFamily="50" charset="-128"/>
                <a:ea typeface="Noto Sans JP" panose="020B0200000000000000" pitchFamily="50" charset="-128"/>
              </a:rPr>
              <a:t>明確化し企画に反映する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876CEC5-80CE-242C-4B09-FC75DABD191D}"/>
              </a:ext>
            </a:extLst>
          </p:cNvPr>
          <p:cNvSpPr txBox="1"/>
          <p:nvPr/>
        </p:nvSpPr>
        <p:spPr>
          <a:xfrm>
            <a:off x="1187909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8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408980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8E97-65A2-4605-4DD9-503481A74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3B4903-61F1-BE99-BDDF-B635B6524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992" y="336238"/>
            <a:ext cx="10515600" cy="1325563"/>
          </a:xfrm>
        </p:spPr>
        <p:txBody>
          <a:bodyPr/>
          <a:lstStyle/>
          <a:p>
            <a:r>
              <a:rPr kumimoji="1" lang="en-US" altLang="ja-JP" b="1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Road</a:t>
            </a:r>
            <a:r>
              <a:rPr lang="en-US" altLang="ja-JP" b="1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map</a:t>
            </a:r>
            <a:endParaRPr kumimoji="1" lang="ja-JP" altLang="en-US" b="1" dirty="0"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C7879F4-07BC-0A6E-7AC0-B2F52D3A5B22}"/>
              </a:ext>
            </a:extLst>
          </p:cNvPr>
          <p:cNvSpPr/>
          <p:nvPr/>
        </p:nvSpPr>
        <p:spPr>
          <a:xfrm>
            <a:off x="244621" y="441058"/>
            <a:ext cx="45719" cy="9144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F6E024F1-7668-75AC-114C-C72622AAE4E7}"/>
              </a:ext>
            </a:extLst>
          </p:cNvPr>
          <p:cNvCxnSpPr>
            <a:cxnSpLocks/>
          </p:cNvCxnSpPr>
          <p:nvPr/>
        </p:nvCxnSpPr>
        <p:spPr>
          <a:xfrm>
            <a:off x="623296" y="3666067"/>
            <a:ext cx="109454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楕円 6">
            <a:extLst>
              <a:ext uri="{FF2B5EF4-FFF2-40B4-BE49-F238E27FC236}">
                <a16:creationId xmlns:a16="http://schemas.microsoft.com/office/drawing/2014/main" id="{EAC31607-72EB-6942-46D2-FAB299F76630}"/>
              </a:ext>
            </a:extLst>
          </p:cNvPr>
          <p:cNvSpPr/>
          <p:nvPr/>
        </p:nvSpPr>
        <p:spPr>
          <a:xfrm>
            <a:off x="1867894" y="3437467"/>
            <a:ext cx="474133" cy="474133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9BE210A-4010-AC59-EAE9-92E28E0D213C}"/>
              </a:ext>
            </a:extLst>
          </p:cNvPr>
          <p:cNvSpPr/>
          <p:nvPr/>
        </p:nvSpPr>
        <p:spPr>
          <a:xfrm>
            <a:off x="928095" y="4444999"/>
            <a:ext cx="2353732" cy="91440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>
                <a:solidFill>
                  <a:schemeClr val="tx1"/>
                </a:solidFill>
              </a:rPr>
              <a:t>プロトタイプ制作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7075AE35-13D7-A375-5A23-30B084DADC67}"/>
              </a:ext>
            </a:extLst>
          </p:cNvPr>
          <p:cNvSpPr/>
          <p:nvPr/>
        </p:nvSpPr>
        <p:spPr>
          <a:xfrm>
            <a:off x="4587313" y="3437467"/>
            <a:ext cx="474133" cy="474133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1A592AA1-9AAF-7685-0A3B-2CD9FDBAC0FC}"/>
              </a:ext>
            </a:extLst>
          </p:cNvPr>
          <p:cNvSpPr/>
          <p:nvPr/>
        </p:nvSpPr>
        <p:spPr>
          <a:xfrm>
            <a:off x="7266021" y="3429000"/>
            <a:ext cx="474133" cy="474133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565317BE-4326-A0C6-66FF-CB2D4DA1BA61}"/>
              </a:ext>
            </a:extLst>
          </p:cNvPr>
          <p:cNvSpPr/>
          <p:nvPr/>
        </p:nvSpPr>
        <p:spPr>
          <a:xfrm>
            <a:off x="9849972" y="3437467"/>
            <a:ext cx="474133" cy="474133"/>
          </a:xfrm>
          <a:prstGeom prst="ellipse">
            <a:avLst/>
          </a:prstGeom>
          <a:solidFill>
            <a:schemeClr val="bg1"/>
          </a:solidFill>
          <a:ln w="412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3D461B9-B922-A599-6064-1A76DC09616E}"/>
              </a:ext>
            </a:extLst>
          </p:cNvPr>
          <p:cNvSpPr/>
          <p:nvPr/>
        </p:nvSpPr>
        <p:spPr>
          <a:xfrm>
            <a:off x="3647514" y="4444999"/>
            <a:ext cx="2353732" cy="91440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chemeClr val="tx1"/>
                </a:solidFill>
              </a:rPr>
              <a:t>ビジネスプランの設計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3132135-54B8-1B60-1DB0-962F44960F45}"/>
              </a:ext>
            </a:extLst>
          </p:cNvPr>
          <p:cNvSpPr/>
          <p:nvPr/>
        </p:nvSpPr>
        <p:spPr>
          <a:xfrm>
            <a:off x="6278843" y="4444999"/>
            <a:ext cx="2353732" cy="91440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chemeClr val="tx1"/>
                </a:solidFill>
              </a:rPr>
              <a:t>完成版の制作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0B7EE1A-F2FB-36BA-C544-5748CB8043A8}"/>
              </a:ext>
            </a:extLst>
          </p:cNvPr>
          <p:cNvSpPr/>
          <p:nvPr/>
        </p:nvSpPr>
        <p:spPr>
          <a:xfrm>
            <a:off x="8910173" y="4444999"/>
            <a:ext cx="2353732" cy="914400"/>
          </a:xfrm>
          <a:prstGeom prst="rect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>
                <a:solidFill>
                  <a:schemeClr val="tx1"/>
                </a:solidFill>
              </a:rPr>
              <a:t>最終調整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D9E41EC-EBB9-5B63-2A6B-78E8E49DD245}"/>
              </a:ext>
            </a:extLst>
          </p:cNvPr>
          <p:cNvSpPr txBox="1"/>
          <p:nvPr/>
        </p:nvSpPr>
        <p:spPr>
          <a:xfrm>
            <a:off x="623296" y="2402324"/>
            <a:ext cx="761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b="1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5</a:t>
            </a:r>
            <a:r>
              <a:rPr kumimoji="1" lang="ja-JP" altLang="en-US" sz="2800" b="1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月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1F14689-5A5A-AEC7-F507-09878CE2FC16}"/>
              </a:ext>
            </a:extLst>
          </p:cNvPr>
          <p:cNvSpPr txBox="1"/>
          <p:nvPr/>
        </p:nvSpPr>
        <p:spPr>
          <a:xfrm>
            <a:off x="10837333" y="2402324"/>
            <a:ext cx="761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b="1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7</a:t>
            </a:r>
            <a:r>
              <a:rPr kumimoji="1" lang="ja-JP" altLang="en-US" sz="2800" b="1" dirty="0">
                <a:latin typeface="Noto Sans JP Black" panose="020B0200000000000000" pitchFamily="50" charset="-128"/>
                <a:ea typeface="Noto Sans JP Black" panose="020B0200000000000000" pitchFamily="50" charset="-128"/>
              </a:rPr>
              <a:t>月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1E27594-5CD2-BA80-EF29-6F090141D6C7}"/>
              </a:ext>
            </a:extLst>
          </p:cNvPr>
          <p:cNvSpPr txBox="1"/>
          <p:nvPr/>
        </p:nvSpPr>
        <p:spPr>
          <a:xfrm>
            <a:off x="11879094" y="64886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9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8315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B8D80-78A8-81D8-7F52-01D7750C3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31F6579-C641-C69D-AE99-07CA1C37CE06}"/>
              </a:ext>
            </a:extLst>
          </p:cNvPr>
          <p:cNvSpPr txBox="1"/>
          <p:nvPr/>
        </p:nvSpPr>
        <p:spPr>
          <a:xfrm>
            <a:off x="4318911" y="1393958"/>
            <a:ext cx="3554178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500" b="1" dirty="0"/>
              <a:t>新 宿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F9E3DF3-10AB-A8AD-DA1E-48A3D52C8409}"/>
              </a:ext>
            </a:extLst>
          </p:cNvPr>
          <p:cNvCxnSpPr>
            <a:cxnSpLocks/>
          </p:cNvCxnSpPr>
          <p:nvPr/>
        </p:nvCxnSpPr>
        <p:spPr>
          <a:xfrm flipH="1">
            <a:off x="5391665" y="3607790"/>
            <a:ext cx="14086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7B300E7-DDC0-90AF-F486-E2FF90EEFF86}"/>
              </a:ext>
            </a:extLst>
          </p:cNvPr>
          <p:cNvSpPr txBox="1"/>
          <p:nvPr/>
        </p:nvSpPr>
        <p:spPr>
          <a:xfrm>
            <a:off x="4002317" y="4210263"/>
            <a:ext cx="4187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「新」 し さ を 提 供 す る。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CD03CE6-E897-6745-8BED-7472AB5B62AE}"/>
              </a:ext>
            </a:extLst>
          </p:cNvPr>
          <p:cNvSpPr txBox="1"/>
          <p:nvPr/>
        </p:nvSpPr>
        <p:spPr>
          <a:xfrm>
            <a:off x="1686779" y="5274400"/>
            <a:ext cx="8818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ご 清 聴 あ り が と う ご ざ い ま し 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9C2F22B-E74F-76E1-286B-2EBFDF252CC7}"/>
              </a:ext>
            </a:extLst>
          </p:cNvPr>
          <p:cNvSpPr txBox="1"/>
          <p:nvPr/>
        </p:nvSpPr>
        <p:spPr>
          <a:xfrm>
            <a:off x="11750854" y="648866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0286834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9123</TotalTime>
  <Words>411</Words>
  <Application>Microsoft Office PowerPoint</Application>
  <PresentationFormat>ワイド画面</PresentationFormat>
  <Paragraphs>122</Paragraphs>
  <Slides>10</Slides>
  <Notes>6</Notes>
  <HiddenSlides>0</HiddenSlides>
  <MMClips>1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9" baseType="lpstr">
      <vt:lpstr>Noto Sans JP</vt:lpstr>
      <vt:lpstr>Noto Sans JP Black</vt:lpstr>
      <vt:lpstr>Noto Sans JP DemiLight</vt:lpstr>
      <vt:lpstr>游ゴシック</vt:lpstr>
      <vt:lpstr>游ゴシック Light</vt:lpstr>
      <vt:lpstr>游ゴシック Medium</vt:lpstr>
      <vt:lpstr>Arial</vt:lpstr>
      <vt:lpstr>Century Gothic</vt:lpstr>
      <vt:lpstr>Office テーマ</vt:lpstr>
      <vt:lpstr>PowerPoint プレゼンテーション</vt:lpstr>
      <vt:lpstr>Agenda</vt:lpstr>
      <vt:lpstr>目標</vt:lpstr>
      <vt:lpstr>調査と結果</vt:lpstr>
      <vt:lpstr>体験の設計</vt:lpstr>
      <vt:lpstr>Concept Prototype</vt:lpstr>
      <vt:lpstr>Sample Video</vt:lpstr>
      <vt:lpstr>次の課題</vt:lpstr>
      <vt:lpstr>Roadmap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翔太 鍋島</dc:creator>
  <cp:lastModifiedBy>TKS25 鍋島翔太</cp:lastModifiedBy>
  <cp:revision>9</cp:revision>
  <dcterms:created xsi:type="dcterms:W3CDTF">2026-04-21T06:26:40Z</dcterms:created>
  <dcterms:modified xsi:type="dcterms:W3CDTF">2026-05-12T13:14:18Z</dcterms:modified>
</cp:coreProperties>
</file>